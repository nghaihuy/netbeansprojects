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027"/>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00AD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601200" cy="3200400"/>
          </a:xfrm>
          <a:prstGeom prst="rect">
            <a:avLst/>
          </a:prstGeom>
          <a:noFill/>
        </p:spPr>
        <p:txBody>
          <a:bodyPr wrap="square" lIns="0">
            <a:spAutoFit/>
          </a:bodyPr>
          <a:lstStyle/>
          <a:p>
            <a:pPr>
              <a:spcAft>
                <a:spcPts val="1000"/>
              </a:spcAft>
              <a:defRPr sz="1400" b="1">
                <a:solidFill>
                  <a:srgbClr val="00ADB5"/>
                </a:solidFill>
                <a:latin typeface="Segoe UI"/>
              </a:defRPr>
            </a:pPr>
            <a:r>
              <a:t>CẤU TRÚC DỮ LIỆU VÀ GIẢI THUẬT</a:t>
            </a:r>
          </a:p>
          <a:p>
            <a:pPr>
              <a:spcAft>
                <a:spcPts val="1000"/>
              </a:spcAft>
              <a:defRPr sz="4400" b="1">
                <a:solidFill>
                  <a:srgbClr val="F7FAFC"/>
                </a:solidFill>
                <a:latin typeface="Segoe UI"/>
              </a:defRPr>
            </a:pPr>
            <a:r>
              <a:t>Cây Tìm Kiếm Nhị Phân (BST)</a:t>
            </a:r>
          </a:p>
          <a:p>
            <a:pPr>
              <a:spcAft>
                <a:spcPts val="3000"/>
              </a:spcAft>
              <a:defRPr sz="1800">
                <a:solidFill>
                  <a:srgbClr val="B4C8D2"/>
                </a:solidFill>
                <a:latin typeface="Segoe UI"/>
              </a:defRPr>
            </a:pPr>
            <a:r>
              <a:t>Các phép duyệt cây sâu &amp; Thuật toán Xóa bằng phương thức Hợp nhất (Merging)</a:t>
            </a:r>
          </a:p>
          <a:p>
            <a:pPr>
              <a:defRPr sz="1200" i="1">
                <a:solidFill>
                  <a:srgbClr val="8CA0AA"/>
                </a:solidFill>
                <a:latin typeface="Segoe UI"/>
              </a:defRPr>
            </a:pPr>
            <a:r>
              <a:t>Giáo trình minh họa thực hành Java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tIns="0" bIns="0" lIns="0">
            <a:spAutoFit/>
          </a:bodyPr>
          <a:lstStyle/>
          <a:p>
            <a:pPr>
              <a:defRPr sz="1000" b="1">
                <a:solidFill>
                  <a:srgbClr val="00ADB5"/>
                </a:solidFill>
                <a:latin typeface="Segoe UI"/>
              </a:defRPr>
            </a:pPr>
            <a:r>
              <a:t>BINARY SEARCH TREE</a:t>
            </a:r>
          </a:p>
        </p:txBody>
      </p:sp>
      <p:sp>
        <p:nvSpPr>
          <p:cNvPr id="3" name="TextBox 2"/>
          <p:cNvSpPr txBox="1"/>
          <p:nvPr/>
        </p:nvSpPr>
        <p:spPr>
          <a:xfrm>
            <a:off x="731520" y="548640"/>
            <a:ext cx="10698480" cy="731520"/>
          </a:xfrm>
          <a:prstGeom prst="rect">
            <a:avLst/>
          </a:prstGeom>
          <a:noFill/>
        </p:spPr>
        <p:txBody>
          <a:bodyPr wrap="square" tIns="0" bIns="0" lIns="0">
            <a:spAutoFit/>
          </a:bodyPr>
          <a:lstStyle/>
          <a:p>
            <a:pPr>
              <a:defRPr sz="2800" b="1">
                <a:solidFill>
                  <a:srgbClr val="0F2027"/>
                </a:solidFill>
                <a:latin typeface="Segoe UI"/>
              </a:defRPr>
            </a:pPr>
            <a:r>
              <a:t>Cấu Trúc Cơ Bản Của Cây BST</a:t>
            </a:r>
          </a:p>
        </p:txBody>
      </p:sp>
      <p:sp>
        <p:nvSpPr>
          <p:cNvPr id="4" name="TextBox 3"/>
          <p:cNvSpPr txBox="1"/>
          <p:nvPr/>
        </p:nvSpPr>
        <p:spPr>
          <a:xfrm>
            <a:off x="731520" y="1645920"/>
            <a:ext cx="5120640" cy="4389120"/>
          </a:xfrm>
          <a:prstGeom prst="rect">
            <a:avLst/>
          </a:prstGeom>
          <a:noFill/>
        </p:spPr>
        <p:txBody>
          <a:bodyPr wrap="square" lIns="182880">
            <a:spAutoFit/>
          </a:bodyPr>
          <a:lstStyle/>
          <a:p>
            <a:pPr>
              <a:spcAft>
                <a:spcPts val="1000"/>
              </a:spcAft>
              <a:defRPr sz="2000" b="1">
                <a:solidFill>
                  <a:srgbClr val="0F2027"/>
                </a:solidFill>
                <a:latin typeface="Segoe UI"/>
              </a:defRPr>
            </a:pPr>
            <a:r>
              <a:t>Lớp đại diện Node</a:t>
            </a:r>
          </a:p>
          <a:p>
            <a:pPr>
              <a:spcAft>
                <a:spcPts val="800"/>
              </a:spcAft>
              <a:defRPr sz="1400">
                <a:solidFill>
                  <a:srgbClr val="2D3748"/>
                </a:solidFill>
                <a:latin typeface="Segoe UI"/>
              </a:defRPr>
            </a:pPr>
            <a:r>
              <a:t>• Lưu trữ khóa (dữ liệu): info kiểu số nguyên (int).</a:t>
            </a:r>
          </a:p>
          <a:p>
            <a:pPr>
              <a:spcAft>
                <a:spcPts val="800"/>
              </a:spcAft>
              <a:defRPr sz="1400">
                <a:solidFill>
                  <a:srgbClr val="2D3748"/>
                </a:solidFill>
                <a:latin typeface="Segoe UI"/>
              </a:defRPr>
            </a:pPr>
            <a:r>
              <a:t>• Tham chiếu trái (left): Trỏ tới cây con bên trái, chứa các nút có giá trị nhỏ hơn nút cha hiện tại.</a:t>
            </a:r>
          </a:p>
          <a:p>
            <a:pPr>
              <a:spcAft>
                <a:spcPts val="800"/>
              </a:spcAft>
              <a:defRPr sz="1400">
                <a:solidFill>
                  <a:srgbClr val="2D3748"/>
                </a:solidFill>
                <a:latin typeface="Segoe UI"/>
              </a:defRPr>
            </a:pPr>
            <a:r>
              <a:t>• Tham chiếu phải (right): Trỏ tới cây con bên phải, chứa các nút có giá trị lớn hơn hoặc bằng nút cha hiện tại.</a:t>
            </a:r>
          </a:p>
          <a:p>
            <a:pPr>
              <a:spcAft>
                <a:spcPts val="800"/>
              </a:spcAft>
              <a:defRPr sz="1400">
                <a:solidFill>
                  <a:srgbClr val="2D3748"/>
                </a:solidFill>
                <a:latin typeface="Segoe UI"/>
              </a:defRPr>
            </a:pPr>
            <a:r>
              <a:t>• Constructor linh hoạt: Khởi tạo nút rỗng, khởi tạo nút có giá trị cụ thể, hoặc khởi tạo với liên kết trái/phải.</a:t>
            </a:r>
          </a:p>
        </p:txBody>
      </p:sp>
      <p:sp>
        <p:nvSpPr>
          <p:cNvPr id="5" name="TextBox 4"/>
          <p:cNvSpPr txBox="1"/>
          <p:nvPr/>
        </p:nvSpPr>
        <p:spPr>
          <a:xfrm>
            <a:off x="6217920" y="1645920"/>
            <a:ext cx="5120640" cy="4389120"/>
          </a:xfrm>
          <a:prstGeom prst="rect">
            <a:avLst/>
          </a:prstGeom>
          <a:noFill/>
        </p:spPr>
        <p:txBody>
          <a:bodyPr wrap="square" lIns="182880">
            <a:spAutoFit/>
          </a:bodyPr>
          <a:lstStyle/>
          <a:p>
            <a:pPr>
              <a:spcAft>
                <a:spcPts val="1000"/>
              </a:spcAft>
              <a:defRPr sz="2000" b="1">
                <a:solidFill>
                  <a:srgbClr val="0F2027"/>
                </a:solidFill>
                <a:latin typeface="Segoe UI"/>
              </a:defRPr>
            </a:pPr>
            <a:r>
              <a:t>Lớp quản lý cây MyBST</a:t>
            </a:r>
          </a:p>
          <a:p>
            <a:pPr>
              <a:spcAft>
                <a:spcPts val="800"/>
              </a:spcAft>
              <a:defRPr sz="1400">
                <a:solidFill>
                  <a:srgbClr val="2D3748"/>
                </a:solidFill>
                <a:latin typeface="Segoe UI"/>
              </a:defRPr>
            </a:pPr>
            <a:r>
              <a:t>• Thuộc tính root: Lưu trữ nút gốc của toàn bộ cây.</a:t>
            </a:r>
          </a:p>
          <a:p>
            <a:pPr>
              <a:spcAft>
                <a:spcPts val="800"/>
              </a:spcAft>
              <a:defRPr sz="1400">
                <a:solidFill>
                  <a:srgbClr val="2D3748"/>
                </a:solidFill>
                <a:latin typeface="Segoe UI"/>
              </a:defRPr>
            </a:pPr>
            <a:r>
              <a:t>• Phương thức isEmpty(): Kiểm tra trạng thái cây (root == null).</a:t>
            </a:r>
          </a:p>
          <a:p>
            <a:pPr>
              <a:spcAft>
                <a:spcPts val="800"/>
              </a:spcAft>
              <a:defRPr sz="1400">
                <a:solidFill>
                  <a:srgbClr val="2D3748"/>
                </a:solidFill>
                <a:latin typeface="Segoe UI"/>
              </a:defRPr>
            </a:pPr>
            <a:r>
              <a:t>• Phương thức insert(int x): Chèn phần tử mới vào đúng vị trí tìm kiếm nhị phân (bảo đảm tính chất của BST, không chèn trùng).</a:t>
            </a:r>
          </a:p>
          <a:p>
            <a:pPr>
              <a:spcAft>
                <a:spcPts val="800"/>
              </a:spcAft>
              <a:defRPr sz="1400">
                <a:solidFill>
                  <a:srgbClr val="2D3748"/>
                </a:solidFill>
                <a:latin typeface="Segoe UI"/>
              </a:defRPr>
            </a:pPr>
            <a:r>
              <a:t>• Phương thức insertMany(int[] a): Chèn hàng loạt các phần tử từ mảng vào cây một cách nhanh chóng.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tIns="0" bIns="0" lIns="0">
            <a:spAutoFit/>
          </a:bodyPr>
          <a:lstStyle/>
          <a:p>
            <a:pPr>
              <a:defRPr sz="1000" b="1">
                <a:solidFill>
                  <a:srgbClr val="00ADB5"/>
                </a:solidFill>
                <a:latin typeface="Segoe UI"/>
              </a:defRPr>
            </a:pPr>
            <a:r>
              <a:t>BINARY SEARCH TREE</a:t>
            </a:r>
          </a:p>
        </p:txBody>
      </p:sp>
      <p:sp>
        <p:nvSpPr>
          <p:cNvPr id="3" name="TextBox 2"/>
          <p:cNvSpPr txBox="1"/>
          <p:nvPr/>
        </p:nvSpPr>
        <p:spPr>
          <a:xfrm>
            <a:off x="731520" y="548640"/>
            <a:ext cx="10698480" cy="731520"/>
          </a:xfrm>
          <a:prstGeom prst="rect">
            <a:avLst/>
          </a:prstGeom>
          <a:noFill/>
        </p:spPr>
        <p:txBody>
          <a:bodyPr wrap="square" tIns="0" bIns="0" lIns="0">
            <a:spAutoFit/>
          </a:bodyPr>
          <a:lstStyle/>
          <a:p>
            <a:pPr>
              <a:defRPr sz="2800" b="1">
                <a:solidFill>
                  <a:srgbClr val="0F2027"/>
                </a:solidFill>
                <a:latin typeface="Segoe UI"/>
              </a:defRPr>
            </a:pPr>
            <a:r>
              <a:t>Các Phép Duyệt Cây Theo Chiều Sâu</a:t>
            </a:r>
          </a:p>
        </p:txBody>
      </p:sp>
      <p:sp>
        <p:nvSpPr>
          <p:cNvPr id="4" name="TextBox 3"/>
          <p:cNvSpPr txBox="1"/>
          <p:nvPr/>
        </p:nvSpPr>
        <p:spPr>
          <a:xfrm>
            <a:off x="731520" y="1645920"/>
            <a:ext cx="10698480" cy="4572000"/>
          </a:xfrm>
          <a:prstGeom prst="rect">
            <a:avLst/>
          </a:prstGeom>
          <a:noFill/>
        </p:spPr>
        <p:txBody>
          <a:bodyPr wrap="square">
            <a:spAutoFit/>
          </a:bodyPr>
          <a:lstStyle/>
          <a:p>
            <a:pPr>
              <a:spcAft>
                <a:spcPts val="200"/>
              </a:spcAft>
              <a:defRPr sz="1800" b="1">
                <a:solidFill>
                  <a:srgbClr val="0F2027"/>
                </a:solidFill>
                <a:latin typeface="Segoe UI"/>
              </a:defRPr>
            </a:pPr>
            <a:r>
              <a:t>1. Tiền thứ tự - PreOrder (NLR)</a:t>
            </a:r>
          </a:p>
          <a:p>
            <a:pPr>
              <a:spcAft>
                <a:spcPts val="200"/>
              </a:spcAft>
              <a:defRPr sz="1300">
                <a:solidFill>
                  <a:srgbClr val="2D3748"/>
                </a:solidFill>
                <a:latin typeface="Segoe UI"/>
              </a:defRPr>
            </a:pPr>
            <a:r>
              <a:t>Thuật toán thăm nút hiện tại trước, sau đó đệ quy duyệt cây con bên trái và cây con bên phải.</a:t>
            </a:r>
          </a:p>
          <a:p>
            <a:pPr>
              <a:spcAft>
                <a:spcPts val="1400"/>
              </a:spcAft>
              <a:defRPr sz="1200" b="1">
                <a:solidFill>
                  <a:srgbClr val="00ADB5"/>
                </a:solidFill>
                <a:latin typeface="Consolas"/>
              </a:defRPr>
            </a:pPr>
            <a:r>
              <a:t>   Cấu trúc code: visit(p) -&gt; preOrder(p.left) -&gt; preOrder(p.right)</a:t>
            </a:r>
          </a:p>
          <a:p>
            <a:pPr>
              <a:spcAft>
                <a:spcPts val="200"/>
              </a:spcAft>
              <a:defRPr sz="1800" b="1">
                <a:solidFill>
                  <a:srgbClr val="0F2027"/>
                </a:solidFill>
                <a:latin typeface="Segoe UI"/>
              </a:defRPr>
            </a:pPr>
            <a:r>
              <a:t>2. Trung thứ tự - InOrder (LNR)</a:t>
            </a:r>
          </a:p>
          <a:p>
            <a:pPr>
              <a:spcAft>
                <a:spcPts val="200"/>
              </a:spcAft>
              <a:defRPr sz="1300">
                <a:solidFill>
                  <a:srgbClr val="2D3748"/>
                </a:solidFill>
                <a:latin typeface="Segoe UI"/>
              </a:defRPr>
            </a:pPr>
            <a:r>
              <a:t>Đệ quy duyệt cây con bên trái, thăm nút hiện tại, sau đó đệ quy duyệt cây con bên phải.</a:t>
            </a:r>
          </a:p>
          <a:p>
            <a:pPr>
              <a:spcAft>
                <a:spcPts val="1400"/>
              </a:spcAft>
              <a:defRPr sz="1200" b="1">
                <a:solidFill>
                  <a:srgbClr val="00ADB5"/>
                </a:solidFill>
                <a:latin typeface="Consolas"/>
              </a:defRPr>
            </a:pPr>
            <a:r>
              <a:t>   Cấu trúc code: inOrder(p.left) -&gt; visit(p) -&gt; inOrder(p.right)</a:t>
            </a:r>
            <a:br/>
            <a:r>
              <a:t>* Đặc điểm: Kết quả in ra các khóa theo thứ tự tăng dần.</a:t>
            </a:r>
          </a:p>
          <a:p>
            <a:pPr>
              <a:spcAft>
                <a:spcPts val="200"/>
              </a:spcAft>
              <a:defRPr sz="1800" b="1">
                <a:solidFill>
                  <a:srgbClr val="0F2027"/>
                </a:solidFill>
                <a:latin typeface="Segoe UI"/>
              </a:defRPr>
            </a:pPr>
            <a:r>
              <a:t>3. Hậu thứ tự - PostOrder (LRN)</a:t>
            </a:r>
          </a:p>
          <a:p>
            <a:pPr>
              <a:spcAft>
                <a:spcPts val="200"/>
              </a:spcAft>
              <a:defRPr sz="1300">
                <a:solidFill>
                  <a:srgbClr val="2D3748"/>
                </a:solidFill>
                <a:latin typeface="Segoe UI"/>
              </a:defRPr>
            </a:pPr>
            <a:r>
              <a:t>Đệ quy duyệt cây con bên trái, đệ quy duyệt cây con bên phải, thăm nút hiện tại cuối cùng.</a:t>
            </a:r>
          </a:p>
          <a:p>
            <a:pPr>
              <a:spcAft>
                <a:spcPts val="1400"/>
              </a:spcAft>
              <a:defRPr sz="1200" b="1">
                <a:solidFill>
                  <a:srgbClr val="00ADB5"/>
                </a:solidFill>
                <a:latin typeface="Consolas"/>
              </a:defRPr>
            </a:pPr>
            <a:r>
              <a:t>   Cấu trúc code: postOrder(p.left) -&gt; postOrder(p.right) -&gt; visit(p)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tIns="0" bIns="0" lIns="0">
            <a:spAutoFit/>
          </a:bodyPr>
          <a:lstStyle/>
          <a:p>
            <a:pPr>
              <a:defRPr sz="1000" b="1">
                <a:solidFill>
                  <a:srgbClr val="00ADB5"/>
                </a:solidFill>
                <a:latin typeface="Segoe UI"/>
              </a:defRPr>
            </a:pPr>
            <a:r>
              <a:t>BINARY SEARCH TREE</a:t>
            </a:r>
          </a:p>
        </p:txBody>
      </p:sp>
      <p:sp>
        <p:nvSpPr>
          <p:cNvPr id="3" name="TextBox 2"/>
          <p:cNvSpPr txBox="1"/>
          <p:nvPr/>
        </p:nvSpPr>
        <p:spPr>
          <a:xfrm>
            <a:off x="731520" y="548640"/>
            <a:ext cx="10698480" cy="731520"/>
          </a:xfrm>
          <a:prstGeom prst="rect">
            <a:avLst/>
          </a:prstGeom>
          <a:noFill/>
        </p:spPr>
        <p:txBody>
          <a:bodyPr wrap="square" tIns="0" bIns="0" lIns="0">
            <a:spAutoFit/>
          </a:bodyPr>
          <a:lstStyle/>
          <a:p>
            <a:pPr>
              <a:defRPr sz="2800" b="1">
                <a:solidFill>
                  <a:srgbClr val="0F2027"/>
                </a:solidFill>
                <a:latin typeface="Segoe UI"/>
              </a:defRPr>
            </a:pPr>
            <a:r>
              <a:t>Ý Tưởng Xóa Bằng Phương Thức Hợp Nhất</a:t>
            </a:r>
          </a:p>
        </p:txBody>
      </p:sp>
      <p:sp>
        <p:nvSpPr>
          <p:cNvPr id="4" name="TextBox 3"/>
          <p:cNvSpPr txBox="1"/>
          <p:nvPr/>
        </p:nvSpPr>
        <p:spPr>
          <a:xfrm>
            <a:off x="731520" y="1645920"/>
            <a:ext cx="5120640" cy="4389120"/>
          </a:xfrm>
          <a:prstGeom prst="rect">
            <a:avLst/>
          </a:prstGeom>
          <a:noFill/>
        </p:spPr>
        <p:txBody>
          <a:bodyPr wrap="square">
            <a:spAutoFit/>
          </a:bodyPr>
          <a:lstStyle/>
          <a:p>
            <a:pPr>
              <a:spcAft>
                <a:spcPts val="1000"/>
              </a:spcAft>
              <a:defRPr sz="2000" b="1">
                <a:solidFill>
                  <a:srgbClr val="0F2027"/>
                </a:solidFill>
                <a:latin typeface="Segoe UI"/>
              </a:defRPr>
            </a:pPr>
            <a:r>
              <a:t>Nguyên lý hoạt động</a:t>
            </a:r>
          </a:p>
          <a:p>
            <a:pPr>
              <a:spcAft>
                <a:spcPts val="1000"/>
              </a:spcAft>
              <a:defRPr sz="1400">
                <a:solidFill>
                  <a:srgbClr val="2D3748"/>
                </a:solidFill>
                <a:latin typeface="Segoe UI"/>
              </a:defRPr>
            </a:pPr>
            <a:r>
              <a:t>• Ý tưởng chính: Hợp nhất cây con bên phải của nút cần xóa vào cây con bên trái của nó.</a:t>
            </a:r>
          </a:p>
          <a:p>
            <a:pPr>
              <a:spcAft>
                <a:spcPts val="1000"/>
              </a:spcAft>
              <a:defRPr sz="1400">
                <a:solidFill>
                  <a:srgbClr val="2D3748"/>
                </a:solidFill>
                <a:latin typeface="Segoe UI"/>
              </a:defRPr>
            </a:pPr>
            <a:r>
              <a:t>• Vị trí ghép nối: Cây con bên phải của nút cần xóa sẽ được gắn làm con bên phải của nút ngoài cùng bên phải (nút có giá trị lớn nhất) trên cây con bên trái.</a:t>
            </a:r>
          </a:p>
          <a:p>
            <a:pPr>
              <a:spcAft>
                <a:spcPts val="1000"/>
              </a:spcAft>
              <a:defRPr sz="1400">
                <a:solidFill>
                  <a:srgbClr val="2D3748"/>
                </a:solidFill>
                <a:latin typeface="Segoe UI"/>
              </a:defRPr>
            </a:pPr>
            <a:r>
              <a:t>• Kết nối lại cha: Nút cha của nút cần xóa sẽ trỏ thẳng tới con bên trái của nút cần xóa.</a:t>
            </a:r>
          </a:p>
          <a:p>
            <a:pPr>
              <a:spcAft>
                <a:spcPts val="1000"/>
              </a:spcAft>
              <a:defRPr sz="1400">
                <a:solidFill>
                  <a:srgbClr val="2D3748"/>
                </a:solidFill>
                <a:latin typeface="Segoe UI"/>
              </a:defRPr>
            </a:pPr>
            <a:r>
              <a:t>• Ưu điểm: Giữ cấu trúc nhị phân đơn giản, dễ cài đặt code đệ quy/vòng lặp trực quan.</a:t>
            </a:r>
          </a:p>
        </p:txBody>
      </p:sp>
      <p:sp>
        <p:nvSpPr>
          <p:cNvPr id="5" name="TextBox 4"/>
          <p:cNvSpPr txBox="1"/>
          <p:nvPr/>
        </p:nvSpPr>
        <p:spPr>
          <a:xfrm>
            <a:off x="6217920" y="1645920"/>
            <a:ext cx="5120640" cy="4389120"/>
          </a:xfrm>
          <a:prstGeom prst="rect">
            <a:avLst/>
          </a:prstGeom>
          <a:noFill/>
        </p:spPr>
        <p:txBody>
          <a:bodyPr wrap="square">
            <a:spAutoFit/>
          </a:bodyPr>
          <a:lstStyle/>
          <a:p>
            <a:pPr>
              <a:spcAft>
                <a:spcPts val="1000"/>
              </a:spcAft>
              <a:defRPr sz="2000" b="1">
                <a:solidFill>
                  <a:srgbClr val="0F2027"/>
                </a:solidFill>
                <a:latin typeface="Segoe UI"/>
              </a:defRPr>
            </a:pPr>
            <a:r>
              <a:t>Bước 1: Tìm kiếm nút cần xóa</a:t>
            </a:r>
          </a:p>
          <a:p>
            <a:pPr>
              <a:spcAft>
                <a:spcPts val="1000"/>
              </a:spcAft>
              <a:defRPr sz="1400">
                <a:solidFill>
                  <a:srgbClr val="2D3748"/>
                </a:solidFill>
                <a:latin typeface="Segoe UI"/>
              </a:defRPr>
            </a:pPr>
            <a:r>
              <a:t>Sử dụng hai con trỏ deleteNode và parentOfDeleteNode để duyệt tìm nút có giá trị khóa x:</a:t>
            </a:r>
          </a:p>
          <a:p>
            <a:pPr>
              <a:spcAft>
                <a:spcPts val="1000"/>
              </a:spcAft>
              <a:defRPr sz="1200">
                <a:solidFill>
                  <a:srgbClr val="0F2027"/>
                </a:solidFill>
                <a:latin typeface="Consolas"/>
              </a:defRPr>
            </a:pPr>
            <a:r>
              <a:t>while (deleteNode != null) {</a:t>
            </a:r>
            <a:br/>
            <a:r>
              <a:t>    if (deleteNode.info == x) break;</a:t>
            </a:r>
            <a:br/>
            <a:r>
              <a:t>    parentOfDeleteNode = deleteNode;</a:t>
            </a:r>
            <a:br/>
            <a:r>
              <a:t>    if (x &lt; deleteNode.info)</a:t>
            </a:r>
            <a:br/>
            <a:r>
              <a:t>        deleteNode = deleteNode.left;</a:t>
            </a:r>
            <a:br/>
            <a:r>
              <a:t>    else</a:t>
            </a:r>
            <a:br/>
            <a:r>
              <a:t>        deleteNode = deleteNode.right;</a:t>
            </a: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tIns="0" bIns="0" lIns="0">
            <a:spAutoFit/>
          </a:bodyPr>
          <a:lstStyle/>
          <a:p>
            <a:pPr>
              <a:defRPr sz="1000" b="1">
                <a:solidFill>
                  <a:srgbClr val="00ADB5"/>
                </a:solidFill>
                <a:latin typeface="Segoe UI"/>
              </a:defRPr>
            </a:pPr>
            <a:r>
              <a:t>BINARY SEARCH TREE</a:t>
            </a:r>
          </a:p>
        </p:txBody>
      </p:sp>
      <p:sp>
        <p:nvSpPr>
          <p:cNvPr id="3" name="TextBox 2"/>
          <p:cNvSpPr txBox="1"/>
          <p:nvPr/>
        </p:nvSpPr>
        <p:spPr>
          <a:xfrm>
            <a:off x="731520" y="548640"/>
            <a:ext cx="10698480" cy="731520"/>
          </a:xfrm>
          <a:prstGeom prst="rect">
            <a:avLst/>
          </a:prstGeom>
          <a:noFill/>
        </p:spPr>
        <p:txBody>
          <a:bodyPr wrap="square" tIns="0" bIns="0" lIns="0">
            <a:spAutoFit/>
          </a:bodyPr>
          <a:lstStyle/>
          <a:p>
            <a:pPr>
              <a:defRPr sz="2800" b="1">
                <a:solidFill>
                  <a:srgbClr val="0F2027"/>
                </a:solidFill>
                <a:latin typeface="Segoe UI"/>
              </a:defRPr>
            </a:pPr>
            <a:r>
              <a:t>Các Trường Hợp Xóa Đơn Giản (Cases 1, 2, 3)</a:t>
            </a:r>
          </a:p>
        </p:txBody>
      </p:sp>
      <p:sp>
        <p:nvSpPr>
          <p:cNvPr id="4" name="TextBox 3"/>
          <p:cNvSpPr txBox="1"/>
          <p:nvPr/>
        </p:nvSpPr>
        <p:spPr>
          <a:xfrm>
            <a:off x="731520" y="1645920"/>
            <a:ext cx="10698480" cy="4572000"/>
          </a:xfrm>
          <a:prstGeom prst="rect">
            <a:avLst/>
          </a:prstGeom>
          <a:noFill/>
        </p:spPr>
        <p:txBody>
          <a:bodyPr wrap="square">
            <a:spAutoFit/>
          </a:bodyPr>
          <a:lstStyle/>
          <a:p>
            <a:pPr>
              <a:spcAft>
                <a:spcPts val="200"/>
              </a:spcAft>
              <a:defRPr sz="1600" b="1">
                <a:solidFill>
                  <a:srgbClr val="0F2027"/>
                </a:solidFill>
                <a:latin typeface="Segoe UI"/>
              </a:defRPr>
            </a:pPr>
            <a:r>
              <a:t>Trường hợp 1: Xóa nút lá (Không có con)</a:t>
            </a:r>
          </a:p>
          <a:p>
            <a:pPr>
              <a:spcAft>
                <a:spcPts val="200"/>
              </a:spcAft>
              <a:defRPr sz="1300">
                <a:solidFill>
                  <a:srgbClr val="2D3748"/>
                </a:solidFill>
                <a:latin typeface="Segoe UI"/>
              </a:defRPr>
            </a:pPr>
            <a:r>
              <a:t>Nếu deleteNode là nút gốc -&gt; Gán root = null.</a:t>
            </a:r>
            <a:br/>
            <a:r>
              <a:t>Ngược lại, ngắt kết nối từ nút cha: gán con trái hoặc con phải tương ứng của parent thành null.</a:t>
            </a:r>
          </a:p>
          <a:p>
            <a:pPr>
              <a:spcAft>
                <a:spcPts val="1200"/>
              </a:spcAft>
              <a:defRPr sz="1100" b="1">
                <a:solidFill>
                  <a:srgbClr val="00ADB5"/>
                </a:solidFill>
                <a:latin typeface="Consolas"/>
              </a:defRPr>
            </a:pPr>
            <a:r>
              <a:t>   Mã lệnh: if (parentOfDeleteNode.left == deleteNode) parentOfDeleteNode.left = null;</a:t>
            </a:r>
          </a:p>
          <a:p>
            <a:pPr>
              <a:spcAft>
                <a:spcPts val="200"/>
              </a:spcAft>
              <a:defRPr sz="1600" b="1">
                <a:solidFill>
                  <a:srgbClr val="0F2027"/>
                </a:solidFill>
                <a:latin typeface="Segoe UI"/>
              </a:defRPr>
            </a:pPr>
            <a:r>
              <a:t>Trường hợp 2: Nút cần xóa chỉ có con bên trái</a:t>
            </a:r>
          </a:p>
          <a:p>
            <a:pPr>
              <a:spcAft>
                <a:spcPts val="200"/>
              </a:spcAft>
              <a:defRPr sz="1300">
                <a:solidFill>
                  <a:srgbClr val="2D3748"/>
                </a:solidFill>
                <a:latin typeface="Segoe UI"/>
              </a:defRPr>
            </a:pPr>
            <a:r>
              <a:t>Nút cha sẽ liên kết trực tiếp tới con bên trái duy nhất của nút bị xóa. Nếu là gốc, root dịch chuyển sang con trái.</a:t>
            </a:r>
          </a:p>
          <a:p>
            <a:pPr>
              <a:spcAft>
                <a:spcPts val="1200"/>
              </a:spcAft>
              <a:defRPr sz="1100" b="1">
                <a:solidFill>
                  <a:srgbClr val="00ADB5"/>
                </a:solidFill>
                <a:latin typeface="Consolas"/>
              </a:defRPr>
            </a:pPr>
            <a:r>
              <a:t>   Mã lệnh: parentOfDeleteNode.left/right = deleteNode.left;</a:t>
            </a:r>
          </a:p>
          <a:p>
            <a:pPr>
              <a:spcAft>
                <a:spcPts val="200"/>
              </a:spcAft>
              <a:defRPr sz="1600" b="1">
                <a:solidFill>
                  <a:srgbClr val="0F2027"/>
                </a:solidFill>
                <a:latin typeface="Segoe UI"/>
              </a:defRPr>
            </a:pPr>
            <a:r>
              <a:t>Trường hợp 3: Nút cần xóa chỉ có con bên phải</a:t>
            </a:r>
          </a:p>
          <a:p>
            <a:pPr>
              <a:spcAft>
                <a:spcPts val="200"/>
              </a:spcAft>
              <a:defRPr sz="1300">
                <a:solidFill>
                  <a:srgbClr val="2D3748"/>
                </a:solidFill>
                <a:latin typeface="Segoe UI"/>
              </a:defRPr>
            </a:pPr>
            <a:r>
              <a:t>Nút cha sẽ liên kết trực tiếp tới con bên phải duy nhất của nút bị xóa. Nếu là gốc, root dịch chuyển sang con phải.</a:t>
            </a:r>
          </a:p>
          <a:p>
            <a:pPr>
              <a:spcAft>
                <a:spcPts val="1200"/>
              </a:spcAft>
              <a:defRPr sz="1100" b="1">
                <a:solidFill>
                  <a:srgbClr val="00ADB5"/>
                </a:solidFill>
                <a:latin typeface="Consolas"/>
              </a:defRPr>
            </a:pPr>
            <a:r>
              <a:t>   Mã lệnh: parentOfDeleteNode.left/right = deleteNode.right;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tIns="0" bIns="0" lIns="0">
            <a:spAutoFit/>
          </a:bodyPr>
          <a:lstStyle/>
          <a:p>
            <a:pPr>
              <a:defRPr sz="1000" b="1">
                <a:solidFill>
                  <a:srgbClr val="00ADB5"/>
                </a:solidFill>
                <a:latin typeface="Segoe UI"/>
              </a:defRPr>
            </a:pPr>
            <a:r>
              <a:t>BINARY SEARCH TREE</a:t>
            </a:r>
          </a:p>
        </p:txBody>
      </p:sp>
      <p:sp>
        <p:nvSpPr>
          <p:cNvPr id="3" name="TextBox 2"/>
          <p:cNvSpPr txBox="1"/>
          <p:nvPr/>
        </p:nvSpPr>
        <p:spPr>
          <a:xfrm>
            <a:off x="731520" y="548640"/>
            <a:ext cx="10698480" cy="731520"/>
          </a:xfrm>
          <a:prstGeom prst="rect">
            <a:avLst/>
          </a:prstGeom>
          <a:noFill/>
        </p:spPr>
        <p:txBody>
          <a:bodyPr wrap="square" tIns="0" bIns="0" lIns="0">
            <a:spAutoFit/>
          </a:bodyPr>
          <a:lstStyle/>
          <a:p>
            <a:pPr>
              <a:defRPr sz="2800" b="1">
                <a:solidFill>
                  <a:srgbClr val="0F2027"/>
                </a:solidFill>
                <a:latin typeface="Segoe UI"/>
              </a:defRPr>
            </a:pPr>
            <a:r>
              <a:t>Trường Hợp 4: Xóa Nút Có Cả 2 Con</a:t>
            </a:r>
          </a:p>
        </p:txBody>
      </p:sp>
      <p:sp>
        <p:nvSpPr>
          <p:cNvPr id="4" name="TextBox 3"/>
          <p:cNvSpPr txBox="1"/>
          <p:nvPr/>
        </p:nvSpPr>
        <p:spPr>
          <a:xfrm>
            <a:off x="731520" y="1645920"/>
            <a:ext cx="5120640" cy="4389120"/>
          </a:xfrm>
          <a:prstGeom prst="rect">
            <a:avLst/>
          </a:prstGeom>
          <a:noFill/>
        </p:spPr>
        <p:txBody>
          <a:bodyPr wrap="square">
            <a:spAutoFit/>
          </a:bodyPr>
          <a:lstStyle/>
          <a:p>
            <a:pPr>
              <a:spcAft>
                <a:spcPts val="1000"/>
              </a:spcAft>
              <a:defRPr sz="2000" b="1">
                <a:solidFill>
                  <a:srgbClr val="0F2027"/>
                </a:solidFill>
                <a:latin typeface="Segoe UI"/>
              </a:defRPr>
            </a:pPr>
            <a:r>
              <a:t>Quy trình thực hiện chi tiết</a:t>
            </a:r>
          </a:p>
          <a:p>
            <a:pPr>
              <a:spcAft>
                <a:spcPts val="800"/>
              </a:spcAft>
              <a:defRPr sz="1300">
                <a:solidFill>
                  <a:srgbClr val="2D3748"/>
                </a:solidFill>
                <a:latin typeface="Segoe UI"/>
              </a:defRPr>
            </a:pPr>
            <a:r>
              <a:t>• Bước A: Tìm nút ngoài cùng bên phải (lớn nhất) của cây con bên trái của nút cần xóa. Nút này được lưu trữ trong con trỏ replaceNode.</a:t>
            </a:r>
          </a:p>
          <a:p>
            <a:pPr>
              <a:spcAft>
                <a:spcPts val="800"/>
              </a:spcAft>
              <a:defRPr sz="1300">
                <a:solidFill>
                  <a:srgbClr val="2D3748"/>
                </a:solidFill>
                <a:latin typeface="Segoe UI"/>
              </a:defRPr>
            </a:pPr>
            <a:r>
              <a:t>• Bước B: Thiết lập liên kết replaceNode.right = deleteNode.right. Ghép toàn bộ nhánh bên phải cũ vào bên phải nút lớn nhất này.</a:t>
            </a:r>
          </a:p>
          <a:p>
            <a:pPr>
              <a:spcAft>
                <a:spcPts val="800"/>
              </a:spcAft>
              <a:defRPr sz="1300">
                <a:solidFill>
                  <a:srgbClr val="2D3748"/>
                </a:solidFill>
                <a:latin typeface="Segoe UI"/>
              </a:defRPr>
            </a:pPr>
            <a:r>
              <a:t>• Bước C: Đứt mối liên kết deleteNode.right = null để chuyển node bị xóa về dạng chỉ có 1 nhánh bên trái.</a:t>
            </a:r>
          </a:p>
          <a:p>
            <a:pPr>
              <a:spcAft>
                <a:spcPts val="800"/>
              </a:spcAft>
              <a:defRPr sz="1300">
                <a:solidFill>
                  <a:srgbClr val="2D3748"/>
                </a:solidFill>
                <a:latin typeface="Segoe UI"/>
              </a:defRPr>
            </a:pPr>
            <a:r>
              <a:t>• Bước D: Cập nhật liên kết từ parentOfDeleteNode đến deleteNode.left (hoặc root = deleteNode.left nếu là gốc).</a:t>
            </a:r>
          </a:p>
        </p:txBody>
      </p:sp>
      <p:sp>
        <p:nvSpPr>
          <p:cNvPr id="5" name="TextBox 4"/>
          <p:cNvSpPr txBox="1"/>
          <p:nvPr/>
        </p:nvSpPr>
        <p:spPr>
          <a:xfrm>
            <a:off x="6217920" y="1645920"/>
            <a:ext cx="5120640" cy="4389120"/>
          </a:xfrm>
          <a:prstGeom prst="rect">
            <a:avLst/>
          </a:prstGeom>
          <a:noFill/>
        </p:spPr>
        <p:txBody>
          <a:bodyPr wrap="square">
            <a:spAutoFit/>
          </a:bodyPr>
          <a:lstStyle/>
          <a:p>
            <a:pPr>
              <a:spcAft>
                <a:spcPts val="1000"/>
              </a:spcAft>
              <a:defRPr sz="2000" b="1">
                <a:solidFill>
                  <a:srgbClr val="0F2027"/>
                </a:solidFill>
                <a:latin typeface="Segoe UI"/>
              </a:defRPr>
            </a:pPr>
            <a:r>
              <a:t>Mã nguồn Java cài đặt</a:t>
            </a:r>
          </a:p>
          <a:p>
            <a:pPr>
              <a:spcAft>
                <a:spcPts val="1000"/>
              </a:spcAft>
              <a:defRPr sz="1050">
                <a:solidFill>
                  <a:srgbClr val="0F2027"/>
                </a:solidFill>
                <a:latin typeface="Consolas"/>
              </a:defRPr>
            </a:pPr>
            <a:r>
              <a:t>// A. Tìm nút lớn nhất cây con trái</a:t>
            </a:r>
            <a:br/>
            <a:r>
              <a:t>rightOfDeleteNode = deleteNode.right;</a:t>
            </a:r>
            <a:br/>
            <a:r>
              <a:t>replaceNode = deleteNode.left;</a:t>
            </a:r>
            <a:br/>
            <a:r>
              <a:t>while (replaceNode.right != null) {</a:t>
            </a:r>
            <a:br/>
            <a:r>
              <a:t>    replaceNode = replaceNode.right;</a:t>
            </a:r>
            <a:br/>
            <a:r>
              <a:t>}</a:t>
            </a:r>
            <a:br/>
            <a:r>
              <a:t>// B. Ghép nhánh phải vào bên phải replaceNode</a:t>
            </a:r>
            <a:br/>
            <a:r>
              <a:t>replaceNode.right = rightOfDeleteNode;</a:t>
            </a:r>
            <a:br/>
            <a:r>
              <a:t>deleteNode.right = null;</a:t>
            </a:r>
            <a:br/>
            <a:r>
              <a:t>// D. Liên kết lại nút cha</a:t>
            </a:r>
            <a:br/>
            <a:r>
              <a:t>if (parentOfDeleteNode == null) root = deleteNode.left;</a:t>
            </a:r>
            <a:br/>
            <a:r>
              <a:t>else if (parentOfDeleteNode.left == deleteNode)</a:t>
            </a:r>
            <a:br/>
            <a:r>
              <a:t>    parentOfDeleteNode.left = deleteNode.left;</a:t>
            </a:r>
            <a:br/>
            <a:r>
              <a:t>else parentOfDeleteNode.right = deleteNode.left;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tIns="0" bIns="0" lIns="0">
            <a:spAutoFit/>
          </a:bodyPr>
          <a:lstStyle/>
          <a:p>
            <a:pPr>
              <a:defRPr sz="1000" b="1">
                <a:solidFill>
                  <a:srgbClr val="00ADB5"/>
                </a:solidFill>
                <a:latin typeface="Segoe UI"/>
              </a:defRPr>
            </a:pPr>
            <a:r>
              <a:t>BINARY SEARCH TREE</a:t>
            </a:r>
          </a:p>
        </p:txBody>
      </p:sp>
      <p:sp>
        <p:nvSpPr>
          <p:cNvPr id="3" name="TextBox 2"/>
          <p:cNvSpPr txBox="1"/>
          <p:nvPr/>
        </p:nvSpPr>
        <p:spPr>
          <a:xfrm>
            <a:off x="731520" y="548640"/>
            <a:ext cx="10698480" cy="731520"/>
          </a:xfrm>
          <a:prstGeom prst="rect">
            <a:avLst/>
          </a:prstGeom>
          <a:noFill/>
        </p:spPr>
        <p:txBody>
          <a:bodyPr wrap="square" tIns="0" bIns="0" lIns="0">
            <a:spAutoFit/>
          </a:bodyPr>
          <a:lstStyle/>
          <a:p>
            <a:pPr>
              <a:defRPr sz="2800" b="1">
                <a:solidFill>
                  <a:srgbClr val="0F2027"/>
                </a:solidFill>
                <a:latin typeface="Segoe UI"/>
              </a:defRPr>
            </a:pPr>
            <a:r>
              <a:t>Kết Quả Thực Nghiệm &amp; Chạy Thử</a:t>
            </a:r>
          </a:p>
        </p:txBody>
      </p:sp>
      <p:sp>
        <p:nvSpPr>
          <p:cNvPr id="4" name="TextBox 3"/>
          <p:cNvSpPr txBox="1"/>
          <p:nvPr/>
        </p:nvSpPr>
        <p:spPr>
          <a:xfrm>
            <a:off x="731520" y="1645920"/>
            <a:ext cx="5120640" cy="4389120"/>
          </a:xfrm>
          <a:prstGeom prst="rect">
            <a:avLst/>
          </a:prstGeom>
          <a:noFill/>
        </p:spPr>
        <p:txBody>
          <a:bodyPr wrap="square">
            <a:spAutoFit/>
          </a:bodyPr>
          <a:lstStyle/>
          <a:p>
            <a:pPr>
              <a:spcAft>
                <a:spcPts val="1000"/>
              </a:spcAft>
              <a:defRPr sz="2000" b="1">
                <a:solidFill>
                  <a:srgbClr val="0F2027"/>
                </a:solidFill>
                <a:latin typeface="Segoe UI"/>
              </a:defRPr>
            </a:pPr>
            <a:r>
              <a:t>Kết quả các phép duyệt cây</a:t>
            </a:r>
          </a:p>
          <a:p>
            <a:pPr>
              <a:spcAft>
                <a:spcPts val="200"/>
              </a:spcAft>
              <a:defRPr sz="1300" b="1">
                <a:solidFill>
                  <a:srgbClr val="0F2027"/>
                </a:solidFill>
                <a:latin typeface="Segoe UI"/>
              </a:defRPr>
            </a:pPr>
            <a:r>
              <a:t>Duyệt chiều rộng (Breadth first):</a:t>
            </a:r>
          </a:p>
          <a:p>
            <a:pPr>
              <a:spcAft>
                <a:spcPts val="800"/>
              </a:spcAft>
              <a:defRPr sz="1100">
                <a:solidFill>
                  <a:srgbClr val="00ADB5"/>
                </a:solidFill>
                <a:latin typeface="Consolas"/>
              </a:defRPr>
            </a:pPr>
            <a:r>
              <a:t>10 6 15 4 8 12 19 2 5 7 9 11 14 17 20...</a:t>
            </a:r>
          </a:p>
          <a:p>
            <a:pPr>
              <a:spcAft>
                <a:spcPts val="200"/>
              </a:spcAft>
              <a:defRPr sz="1300" b="1">
                <a:solidFill>
                  <a:srgbClr val="0F2027"/>
                </a:solidFill>
                <a:latin typeface="Segoe UI"/>
              </a:defRPr>
            </a:pPr>
            <a:r>
              <a:t>Tiền thứ tự PreOrder (NLR):</a:t>
            </a:r>
          </a:p>
          <a:p>
            <a:pPr>
              <a:spcAft>
                <a:spcPts val="800"/>
              </a:spcAft>
              <a:defRPr sz="1100">
                <a:solidFill>
                  <a:srgbClr val="00ADB5"/>
                </a:solidFill>
                <a:latin typeface="Consolas"/>
              </a:defRPr>
            </a:pPr>
            <a:r>
              <a:t>10 6 4 2 1 0 3 5 8 7 9 15 12 11 14...</a:t>
            </a:r>
          </a:p>
          <a:p>
            <a:pPr>
              <a:spcAft>
                <a:spcPts val="200"/>
              </a:spcAft>
              <a:defRPr sz="1300" b="1">
                <a:solidFill>
                  <a:srgbClr val="0F2027"/>
                </a:solidFill>
                <a:latin typeface="Segoe UI"/>
              </a:defRPr>
            </a:pPr>
            <a:r>
              <a:t>Trung thứ tự InOrder (LNR):</a:t>
            </a:r>
          </a:p>
          <a:p>
            <a:pPr>
              <a:spcAft>
                <a:spcPts val="800"/>
              </a:spcAft>
              <a:defRPr sz="1100">
                <a:solidFill>
                  <a:srgbClr val="00ADB5"/>
                </a:solidFill>
                <a:latin typeface="Consolas"/>
              </a:defRPr>
            </a:pPr>
            <a:r>
              <a:t>0 1 2 3 4 5 6 7 8 9 10 11 12 13 14 15... (Sắp xếp tăng dần)</a:t>
            </a:r>
          </a:p>
          <a:p>
            <a:pPr>
              <a:spcAft>
                <a:spcPts val="200"/>
              </a:spcAft>
              <a:defRPr sz="1300" b="1">
                <a:solidFill>
                  <a:srgbClr val="0F2027"/>
                </a:solidFill>
                <a:latin typeface="Segoe UI"/>
              </a:defRPr>
            </a:pPr>
            <a:r>
              <a:t>Hậu thứ tự PostOrder (LRN):</a:t>
            </a:r>
          </a:p>
          <a:p>
            <a:pPr>
              <a:spcAft>
                <a:spcPts val="800"/>
              </a:spcAft>
              <a:defRPr sz="1100">
                <a:solidFill>
                  <a:srgbClr val="00ADB5"/>
                </a:solidFill>
                <a:latin typeface="Consolas"/>
              </a:defRPr>
            </a:pPr>
            <a:r>
              <a:t>0 1 3 2 5 4 7 9 8 6 11 13 14 12...</a:t>
            </a:r>
          </a:p>
        </p:txBody>
      </p:sp>
      <p:sp>
        <p:nvSpPr>
          <p:cNvPr id="5" name="TextBox 4"/>
          <p:cNvSpPr txBox="1"/>
          <p:nvPr/>
        </p:nvSpPr>
        <p:spPr>
          <a:xfrm>
            <a:off x="6217920" y="1645920"/>
            <a:ext cx="5120640" cy="4389120"/>
          </a:xfrm>
          <a:prstGeom prst="rect">
            <a:avLst/>
          </a:prstGeom>
          <a:noFill/>
        </p:spPr>
        <p:txBody>
          <a:bodyPr wrap="square">
            <a:spAutoFit/>
          </a:bodyPr>
          <a:lstStyle/>
          <a:p>
            <a:pPr>
              <a:spcAft>
                <a:spcPts val="1000"/>
              </a:spcAft>
              <a:defRPr sz="2000" b="1">
                <a:solidFill>
                  <a:srgbClr val="0F2027"/>
                </a:solidFill>
                <a:latin typeface="Segoe UI"/>
              </a:defRPr>
            </a:pPr>
            <a:r>
              <a:t>Kiểm thử phép xóa Merging</a:t>
            </a:r>
          </a:p>
          <a:p>
            <a:pPr>
              <a:spcAft>
                <a:spcPts val="600"/>
              </a:spcAft>
              <a:defRPr sz="1400">
                <a:solidFill>
                  <a:srgbClr val="2D3748"/>
                </a:solidFill>
                <a:latin typeface="Segoe UI"/>
              </a:defRPr>
            </a:pPr>
            <a:r>
              <a:t>Khi xóa phần tử 15 (là node có 2 con):</a:t>
            </a:r>
          </a:p>
          <a:p>
            <a:pPr>
              <a:spcAft>
                <a:spcPts val="600"/>
              </a:spcAft>
              <a:defRPr sz="1300">
                <a:solidFill>
                  <a:srgbClr val="2D3748"/>
                </a:solidFill>
                <a:latin typeface="Segoe UI"/>
              </a:defRPr>
            </a:pPr>
            <a:r>
              <a:t>• Cây con trái của 15 có gốc là 12, nút lớn nhất là 14.</a:t>
            </a:r>
          </a:p>
          <a:p>
            <a:pPr>
              <a:spcAft>
                <a:spcPts val="600"/>
              </a:spcAft>
              <a:defRPr sz="1300">
                <a:solidFill>
                  <a:srgbClr val="2D3748"/>
                </a:solidFill>
                <a:latin typeface="Segoe UI"/>
              </a:defRPr>
            </a:pPr>
            <a:r>
              <a:t>• Cánh phải của 15 (gốc 19) sẽ được ghép vào bên phải của nút 14.</a:t>
            </a:r>
          </a:p>
          <a:p>
            <a:pPr>
              <a:spcAft>
                <a:spcPts val="600"/>
              </a:spcAft>
              <a:defRPr sz="1300">
                <a:solidFill>
                  <a:srgbClr val="2D3748"/>
                </a:solidFill>
                <a:latin typeface="Segoe UI"/>
              </a:defRPr>
            </a:pPr>
            <a:r>
              <a:t>• Nút cha của 15 (nút 10) chuyển liên kết phải trỏ thẳng tới 12.</a:t>
            </a:r>
          </a:p>
          <a:p>
            <a:pPr>
              <a:spcAft>
                <a:spcPts val="600"/>
              </a:spcAft>
              <a:defRPr sz="1300">
                <a:solidFill>
                  <a:srgbClr val="2D3748"/>
                </a:solidFill>
                <a:latin typeface="Segoe UI"/>
              </a:defRPr>
            </a:pPr>
            <a:r>
              <a:t>• Kết quả duyệt chiều rộng sau khi xóa node 15:</a:t>
            </a:r>
            <a:br/>
            <a:r>
              <a:t>10 6 12 4 8 11 14 2 5 7 9 13 19 1 3 17 20 0 16 18 21 22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