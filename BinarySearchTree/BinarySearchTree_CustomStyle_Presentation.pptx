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11643055" cy="6309360"/>
          </a:xfrm>
          <a:prstGeom prst="roundRect">
            <a:avLst/>
          </a:prstGeom>
          <a:noFill/>
          <a:ln w="762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3657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3716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1208" y="795528"/>
            <a:ext cx="54864" cy="5486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3657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005840"/>
            <a:ext cx="13716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9848" y="1252728"/>
            <a:ext cx="54864" cy="5486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0" y="5669280"/>
            <a:ext cx="3657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338560" y="5669280"/>
            <a:ext cx="13716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11128" y="5916168"/>
            <a:ext cx="54864" cy="5486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789920" y="5303520"/>
            <a:ext cx="3657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89920" y="5303520"/>
            <a:ext cx="13716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62488" y="5550408"/>
            <a:ext cx="54864" cy="5486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14800" y="457200"/>
            <a:ext cx="457200" cy="457200"/>
          </a:xfrm>
          <a:prstGeom prst="ellipse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51960" y="594360"/>
            <a:ext cx="182880" cy="182880"/>
          </a:xfrm>
          <a:prstGeom prst="ellipse">
            <a:avLst/>
          </a:prstGeom>
          <a:solidFill>
            <a:srgbClr val="F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2000" y="274320"/>
            <a:ext cx="274320" cy="2743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54296" y="356616"/>
            <a:ext cx="109728" cy="109728"/>
          </a:xfrm>
          <a:prstGeom prst="ellipse">
            <a:avLst/>
          </a:prstGeom>
          <a:solidFill>
            <a:srgbClr val="F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40480" y="566928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50208" y="5779008"/>
            <a:ext cx="146304" cy="146304"/>
          </a:xfrm>
          <a:prstGeom prst="ellipse">
            <a:avLst/>
          </a:prstGeom>
          <a:solidFill>
            <a:srgbClr val="F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297680" y="5852160"/>
            <a:ext cx="457200" cy="457200"/>
          </a:xfrm>
          <a:prstGeom prst="ellipse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34840" y="5989320"/>
            <a:ext cx="182880" cy="182880"/>
          </a:xfrm>
          <a:prstGeom prst="ellipse">
            <a:avLst/>
          </a:prstGeom>
          <a:solidFill>
            <a:srgbClr val="F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1645920"/>
            <a:ext cx="9448495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500"/>
              </a:spcAft>
              <a:defRPr sz="1400" b="1">
                <a:solidFill>
                  <a:srgbClr val="1B55BA"/>
                </a:solidFill>
                <a:latin typeface="Segoe UI"/>
              </a:defRPr>
            </a:pPr>
            <a:r>
              <a:t>CẤU TRÚC DỮ LIỆU &amp; GIẢI THUẬT</a:t>
            </a:r>
          </a:p>
          <a:p>
            <a:pPr algn="ctr">
              <a:spcAft>
                <a:spcPts val="0"/>
              </a:spcAft>
              <a:defRPr sz="5400">
                <a:solidFill>
                  <a:srgbClr val="0A143C"/>
                </a:solidFill>
                <a:latin typeface="Impact"/>
              </a:defRPr>
            </a:pPr>
            <a:r>
              <a:t>CÂY TÌM KIẾM NHỊ PHÂN</a:t>
            </a:r>
          </a:p>
          <a:p>
            <a:pPr algn="ctr">
              <a:spcAft>
                <a:spcPts val="2500"/>
              </a:spcAft>
              <a:defRPr sz="3600">
                <a:solidFill>
                  <a:srgbClr val="7C3AED"/>
                </a:solidFill>
                <a:latin typeface="Impact"/>
              </a:defRPr>
            </a:pPr>
            <a:r>
              <a:t>BINARY SEARCH TREE (BST)</a:t>
            </a:r>
          </a:p>
          <a:p>
            <a:pPr algn="ctr">
              <a:spcAft>
                <a:spcPts val="3000"/>
              </a:spcAft>
              <a:defRPr sz="1600" b="1">
                <a:solidFill>
                  <a:srgbClr val="374151"/>
                </a:solidFill>
                <a:latin typeface="Segoe UI"/>
              </a:defRPr>
            </a:pPr>
            <a:r>
              <a:t>Duyệt Cây Chiều Sâu &amp; Xóa Node Bằng Phương Pháp Hợp Nhất (Merging)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80990" y="5120640"/>
            <a:ext cx="1828800" cy="411480"/>
          </a:xfrm>
          <a:prstGeom prst="roundRect">
            <a:avLst/>
          </a:prstGeom>
          <a:solidFill>
            <a:srgbClr val="0A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0990" y="5166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Java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4864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3232" y="713232"/>
            <a:ext cx="219456" cy="219456"/>
          </a:xfrm>
          <a:prstGeom prst="ellipse">
            <a:avLst/>
          </a:prstGeom>
          <a:solidFill>
            <a:srgbClr val="F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365760"/>
            <a:ext cx="365760" cy="365760"/>
          </a:xfrm>
          <a:prstGeom prst="ellipse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" y="475488"/>
            <a:ext cx="146304" cy="146304"/>
          </a:xfrm>
          <a:prstGeom prst="ellipse">
            <a:avLst/>
          </a:prstGeom>
          <a:solidFill>
            <a:srgbClr val="F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657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3716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2648" y="1618488"/>
            <a:ext cx="54864" cy="5486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73152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0A143C"/>
                </a:solidFill>
                <a:latin typeface="Impact"/>
              </a:defRPr>
            </a:pPr>
            <a:r>
              <a:t>CẤU TRÚC DỰ ÁN (PROJECT CLASSES)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103120"/>
            <a:ext cx="7619695" cy="1097280"/>
          </a:xfrm>
          <a:prstGeom prst="roundRect">
            <a:avLst/>
          </a:prstGeom>
          <a:solidFill>
            <a:srgbClr val="1B55B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240280"/>
            <a:ext cx="70710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Lớp Node (Cấu trúc nút)</a:t>
            </a:r>
          </a:p>
          <a:p>
            <a:pPr>
              <a:defRPr sz="1400">
                <a:solidFill>
                  <a:srgbClr val="BFDBFE"/>
                </a:solidFill>
                <a:latin typeface="Segoe UI"/>
              </a:defRPr>
            </a:pPr>
            <a:r>
              <a:t>Lưu trữ giá trị 'info', con bên trái 'left' và con bên phải 'right'.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3566160"/>
            <a:ext cx="7619695" cy="1097280"/>
          </a:xfrm>
          <a:prstGeom prst="roundRect">
            <a:avLst/>
          </a:prstGeom>
          <a:solidFill>
            <a:srgbClr val="1B55B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3703320"/>
            <a:ext cx="70710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Lớp MyBST (Cây nhị phân)</a:t>
            </a:r>
          </a:p>
          <a:p>
            <a:pPr>
              <a:defRPr sz="1400">
                <a:solidFill>
                  <a:srgbClr val="BFDBFE"/>
                </a:solidFill>
                <a:latin typeface="Segoe UI"/>
              </a:defRPr>
            </a:pPr>
            <a:r>
              <a:t>Chứa node gốc 'root', phương thức chèn 'insert', 'insertMany' và duyệt cây.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5303520"/>
            <a:ext cx="457200" cy="457200"/>
          </a:xfrm>
          <a:prstGeom prst="ellipse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5440680"/>
            <a:ext cx="182880" cy="182880"/>
          </a:xfrm>
          <a:prstGeom prst="ellipse">
            <a:avLst/>
          </a:prstGeom>
          <a:solidFill>
            <a:srgbClr val="F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548640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81328" y="5596128"/>
            <a:ext cx="146304" cy="146304"/>
          </a:xfrm>
          <a:prstGeom prst="ellipse">
            <a:avLst/>
          </a:prstGeom>
          <a:solidFill>
            <a:srgbClr val="F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41280" y="4114800"/>
            <a:ext cx="1097280" cy="365760"/>
          </a:xfrm>
          <a:prstGeom prst="roundRect">
            <a:avLst/>
          </a:prstGeom>
          <a:solidFill>
            <a:srgbClr val="1B55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332720" y="3749039"/>
            <a:ext cx="91440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0100000">
            <a:off x="9326880" y="-731520"/>
            <a:ext cx="4114800" cy="2011680"/>
          </a:xfrm>
          <a:prstGeom prst="rect">
            <a:avLst/>
          </a:prstGeom>
          <a:solidFill>
            <a:srgbClr val="0A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100000">
            <a:off x="8961120" y="-457200"/>
            <a:ext cx="411480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100000">
            <a:off x="8412480" y="-274320"/>
            <a:ext cx="41148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54864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38912" y="5650992"/>
            <a:ext cx="219456" cy="219456"/>
          </a:xfrm>
          <a:prstGeom prst="ellipse">
            <a:avLst/>
          </a:prstGeom>
          <a:solidFill>
            <a:srgbClr val="F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548640"/>
            <a:ext cx="3657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48640"/>
            <a:ext cx="13716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2648" y="795528"/>
            <a:ext cx="54864" cy="5486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3600">
                <a:solidFill>
                  <a:srgbClr val="0A143C"/>
                </a:solidFill>
                <a:latin typeface="Impact"/>
              </a:defRPr>
            </a:pPr>
            <a:r>
              <a:t>PHÉP DUYỆT CÂY THEO CHIỀU SÂU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188720"/>
            <a:ext cx="2011680" cy="54864"/>
          </a:xfrm>
          <a:prstGeom prst="rect">
            <a:avLst/>
          </a:prstGeom>
          <a:solidFill>
            <a:srgbClr val="1B55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4846320" cy="4389120"/>
          </a:xfrm>
          <a:prstGeom prst="roundRect">
            <a:avLst/>
          </a:prstGeom>
          <a:solidFill>
            <a:srgbClr val="1B55B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920240"/>
            <a:ext cx="42976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PreOrder (NLR) &amp; InOrder (LNR)</a:t>
            </a:r>
          </a:p>
          <a:p>
            <a:pPr>
              <a:spcAft>
                <a:spcPts val="600"/>
              </a:spcAft>
              <a:defRPr sz="1300"/>
            </a:pPr>
            <a:r>
              <a:rPr b="1">
                <a:solidFill>
                  <a:srgbClr val="FFFFFF"/>
                </a:solidFill>
              </a:rPr>
              <a:t>• PreOrder (NLR): </a:t>
            </a:r>
            <a:r>
              <a:rPr>
                <a:solidFill>
                  <a:srgbClr val="BFDBFE"/>
                </a:solidFill>
              </a:rPr>
              <a:t>Thăm nút hiện tại trước, sau đó duyệt nhánh trái và phải.</a:t>
            </a:r>
          </a:p>
          <a:p>
            <a:pPr>
              <a:spcAft>
                <a:spcPts val="600"/>
              </a:spcAft>
              <a:defRPr sz="1300"/>
            </a:pPr>
            <a:r>
              <a:rPr b="1">
                <a:solidFill>
                  <a:srgbClr val="FFFFFF"/>
                </a:solidFill>
              </a:rPr>
              <a:t>• InOrder (LNR): </a:t>
            </a:r>
            <a:r>
              <a:rPr>
                <a:solidFill>
                  <a:srgbClr val="BFDBFE"/>
                </a:solidFill>
              </a:rPr>
              <a:t>Duyệt nhánh trái, thăm nút hiện tại, sau đó duyệt nhánh phải.</a:t>
            </a:r>
          </a:p>
          <a:p>
            <a:pPr>
              <a:spcAft>
                <a:spcPts val="600"/>
              </a:spcAft>
              <a:defRPr sz="1300"/>
            </a:pPr>
            <a:r>
              <a:rPr b="1">
                <a:solidFill>
                  <a:srgbClr val="FFFFFF"/>
                </a:solidFill>
              </a:rPr>
              <a:t>• Đặc tính LNR: </a:t>
            </a:r>
            <a:r>
              <a:rPr>
                <a:solidFill>
                  <a:srgbClr val="BFDBFE"/>
                </a:solidFill>
              </a:rPr>
              <a:t>Giúp in các khóa của BST theo thứ tự tăng dần.</a:t>
            </a:r>
          </a:p>
          <a:p>
            <a:pPr>
              <a:spcBef>
                <a:spcPts val="1500"/>
              </a:spcBef>
              <a:spcAft>
                <a:spcPts val="0"/>
              </a:spcAft>
              <a:defRPr sz="1050">
                <a:latin typeface="Consolas"/>
              </a:defRPr>
            </a:pPr>
            <a:r>
              <a:rPr>
                <a:solidFill>
                  <a:srgbClr val="FDA4BA"/>
                </a:solidFill>
              </a:rPr>
              <a:t>public </a:t>
            </a:r>
            <a:r>
              <a:rPr>
                <a:solidFill>
                  <a:srgbClr val="FDA4BA"/>
                </a:solidFill>
              </a:rPr>
              <a:t>void </a:t>
            </a:r>
            <a:r>
              <a:rPr>
                <a:solidFill>
                  <a:srgbClr val="FFFFFF"/>
                </a:solidFill>
              </a:rPr>
              <a:t>preOrder(Node </a:t>
            </a:r>
            <a:r>
              <a:rPr>
                <a:solidFill>
                  <a:srgbClr val="FFFFFF"/>
                </a:solidFill>
              </a:rPr>
              <a:t>p) </a:t>
            </a:r>
            <a:r>
              <a:rPr>
                <a:solidFill>
                  <a:srgbClr val="FFFFFF"/>
                </a:solidFill>
              </a:rPr>
              <a:t>{ </a:t>
            </a:r>
          </a:p>
          <a:p>
            <a:pPr>
              <a:spcAft>
                <a:spcPts val="0"/>
              </a:spcAft>
              <a:defRPr sz="105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DA4BA"/>
                </a:solidFill>
              </a:rPr>
              <a:t>if </a:t>
            </a:r>
            <a:r>
              <a:rPr>
                <a:solidFill>
                  <a:srgbClr val="FFFFFF"/>
                </a:solidFill>
              </a:rPr>
              <a:t>(p </a:t>
            </a:r>
            <a:r>
              <a:rPr>
                <a:solidFill>
                  <a:srgbClr val="FFFFFF"/>
                </a:solidFill>
              </a:rPr>
              <a:t>== </a:t>
            </a:r>
            <a:r>
              <a:rPr>
                <a:solidFill>
                  <a:srgbClr val="FFFFFF"/>
                </a:solidFill>
              </a:rPr>
              <a:t>null) </a:t>
            </a:r>
            <a:r>
              <a:rPr>
                <a:solidFill>
                  <a:srgbClr val="FFFFFF"/>
                </a:solidFill>
              </a:rPr>
              <a:t>return; </a:t>
            </a:r>
          </a:p>
          <a:p>
            <a:pPr>
              <a:spcAft>
                <a:spcPts val="0"/>
              </a:spcAft>
              <a:defRPr sz="105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visit(p); </a:t>
            </a:r>
            <a:r>
              <a:rPr>
                <a:solidFill>
                  <a:srgbClr val="9CA3AF"/>
                </a:solidFill>
              </a:rPr>
              <a:t>// </a:t>
            </a:r>
            <a:r>
              <a:rPr>
                <a:solidFill>
                  <a:srgbClr val="FFFFFF"/>
                </a:solidFill>
              </a:rPr>
              <a:t>NLR </a:t>
            </a:r>
          </a:p>
          <a:p>
            <a:pPr>
              <a:spcAft>
                <a:spcPts val="0"/>
              </a:spcAft>
              <a:defRPr sz="105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preOrder(p.left); </a:t>
            </a:r>
          </a:p>
          <a:p>
            <a:pPr>
              <a:spcAft>
                <a:spcPts val="0"/>
              </a:spcAft>
              <a:defRPr sz="105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preOrder(p.right); </a:t>
            </a:r>
          </a:p>
          <a:p>
            <a:pPr>
              <a:spcAft>
                <a:spcPts val="0"/>
              </a:spcAft>
              <a:defRPr sz="105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}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645920"/>
            <a:ext cx="4846320" cy="4389120"/>
          </a:xfrm>
          <a:prstGeom prst="roundRect">
            <a:avLst/>
          </a:prstGeom>
          <a:solidFill>
            <a:srgbClr val="1B55B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920240"/>
            <a:ext cx="42976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PostOrder Traversal (LRN)</a:t>
            </a:r>
          </a:p>
          <a:p>
            <a:pPr>
              <a:spcAft>
                <a:spcPts val="600"/>
              </a:spcAft>
              <a:defRPr sz="1300"/>
            </a:pPr>
            <a:r>
              <a:rPr b="1">
                <a:solidFill>
                  <a:srgbClr val="FFFFFF"/>
                </a:solidFill>
              </a:rPr>
              <a:t>• Quy trình: </a:t>
            </a:r>
            <a:r>
              <a:rPr>
                <a:solidFill>
                  <a:srgbClr val="BFDBFE"/>
                </a:solidFill>
              </a:rPr>
              <a:t>Đệ quy nhánh trái -&gt; Đệ quy nhánh phải -&gt; Thăm nút gốc.</a:t>
            </a:r>
          </a:p>
          <a:p>
            <a:pPr>
              <a:spcAft>
                <a:spcPts val="600"/>
              </a:spcAft>
              <a:defRPr sz="1300"/>
            </a:pPr>
            <a:r>
              <a:rPr b="1">
                <a:solidFill>
                  <a:srgbClr val="FFFFFF"/>
                </a:solidFill>
              </a:rPr>
              <a:t>• Ứng dụng: </a:t>
            </a:r>
            <a:r>
              <a:rPr>
                <a:solidFill>
                  <a:srgbClr val="BFDBFE"/>
                </a:solidFill>
              </a:rPr>
              <a:t>Thích hợp cho các hoạt động dọn dẹp hoặc giải phóng bộ nhớ của các nút cây.</a:t>
            </a:r>
          </a:p>
          <a:p>
            <a:pPr>
              <a:spcBef>
                <a:spcPts val="3000"/>
              </a:spcBef>
              <a:spcAft>
                <a:spcPts val="0"/>
              </a:spcAft>
              <a:defRPr sz="1050">
                <a:latin typeface="Consolas"/>
              </a:defRPr>
            </a:pPr>
            <a:r>
              <a:rPr>
                <a:solidFill>
                  <a:srgbClr val="FDA4BA"/>
                </a:solidFill>
              </a:rPr>
              <a:t>public </a:t>
            </a:r>
            <a:r>
              <a:rPr>
                <a:solidFill>
                  <a:srgbClr val="FDA4BA"/>
                </a:solidFill>
              </a:rPr>
              <a:t>void </a:t>
            </a:r>
            <a:r>
              <a:rPr>
                <a:solidFill>
                  <a:srgbClr val="FFFFFF"/>
                </a:solidFill>
              </a:rPr>
              <a:t>postOrder(Node </a:t>
            </a:r>
            <a:r>
              <a:rPr>
                <a:solidFill>
                  <a:srgbClr val="FFFFFF"/>
                </a:solidFill>
              </a:rPr>
              <a:t>p) </a:t>
            </a:r>
            <a:r>
              <a:rPr>
                <a:solidFill>
                  <a:srgbClr val="FFFFFF"/>
                </a:solidFill>
              </a:rPr>
              <a:t>{ </a:t>
            </a:r>
          </a:p>
          <a:p>
            <a:pPr>
              <a:spcAft>
                <a:spcPts val="0"/>
              </a:spcAft>
              <a:defRPr sz="105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DA4BA"/>
                </a:solidFill>
              </a:rPr>
              <a:t>if </a:t>
            </a:r>
            <a:r>
              <a:rPr>
                <a:solidFill>
                  <a:srgbClr val="FFFFFF"/>
                </a:solidFill>
              </a:rPr>
              <a:t>(p </a:t>
            </a:r>
            <a:r>
              <a:rPr>
                <a:solidFill>
                  <a:srgbClr val="FFFFFF"/>
                </a:solidFill>
              </a:rPr>
              <a:t>== </a:t>
            </a:r>
            <a:r>
              <a:rPr>
                <a:solidFill>
                  <a:srgbClr val="FFFFFF"/>
                </a:solidFill>
              </a:rPr>
              <a:t>null) </a:t>
            </a:r>
            <a:r>
              <a:rPr>
                <a:solidFill>
                  <a:srgbClr val="FFFFFF"/>
                </a:solidFill>
              </a:rPr>
              <a:t>return; </a:t>
            </a:r>
          </a:p>
          <a:p>
            <a:pPr>
              <a:spcAft>
                <a:spcPts val="0"/>
              </a:spcAft>
              <a:defRPr sz="105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postOrder(p.left); </a:t>
            </a:r>
          </a:p>
          <a:p>
            <a:pPr>
              <a:spcAft>
                <a:spcPts val="0"/>
              </a:spcAft>
              <a:defRPr sz="105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postOrder(p.right); </a:t>
            </a:r>
          </a:p>
          <a:p>
            <a:pPr>
              <a:spcAft>
                <a:spcPts val="0"/>
              </a:spcAft>
              <a:defRPr sz="105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visit(p); </a:t>
            </a:r>
            <a:r>
              <a:rPr>
                <a:solidFill>
                  <a:srgbClr val="9CA3AF"/>
                </a:solidFill>
              </a:rPr>
              <a:t>// </a:t>
            </a:r>
            <a:r>
              <a:rPr>
                <a:solidFill>
                  <a:srgbClr val="FFFFFF"/>
                </a:solidFill>
              </a:rPr>
              <a:t>LRN </a:t>
            </a:r>
          </a:p>
          <a:p>
            <a:pPr>
              <a:spcAft>
                <a:spcPts val="0"/>
              </a:spcAft>
              <a:defRPr sz="105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}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0100000">
            <a:off x="9326880" y="-731520"/>
            <a:ext cx="4114800" cy="2011680"/>
          </a:xfrm>
          <a:prstGeom prst="rect">
            <a:avLst/>
          </a:prstGeom>
          <a:solidFill>
            <a:srgbClr val="0A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100000">
            <a:off x="8961120" y="-457200"/>
            <a:ext cx="411480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100000">
            <a:off x="8412480" y="-274320"/>
            <a:ext cx="41148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548640"/>
            <a:ext cx="3657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548640"/>
            <a:ext cx="13716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2648" y="795528"/>
            <a:ext cx="54864" cy="5486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3600">
                <a:solidFill>
                  <a:srgbClr val="0A143C"/>
                </a:solidFill>
                <a:latin typeface="Impact"/>
              </a:defRPr>
            </a:pPr>
            <a:r>
              <a:t>Ý TƯỞNG XÓA BẰNG CÁCH HỢP NHẤT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188720"/>
            <a:ext cx="2011680" cy="54864"/>
          </a:xfrm>
          <a:prstGeom prst="rect">
            <a:avLst/>
          </a:prstGeom>
          <a:solidFill>
            <a:srgbClr val="1B55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4846320" cy="4389120"/>
          </a:xfrm>
          <a:prstGeom prst="roundRect">
            <a:avLst/>
          </a:prstGeom>
          <a:solidFill>
            <a:srgbClr val="1B55B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20240"/>
            <a:ext cx="42976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Nguyên lý hoạt động</a:t>
            </a:r>
          </a:p>
          <a:p>
            <a:pPr>
              <a:spcAft>
                <a:spcPts val="1000"/>
              </a:spcAft>
              <a:defRPr sz="1300">
                <a:solidFill>
                  <a:srgbClr val="BFDBFE"/>
                </a:solidFill>
                <a:latin typeface="Segoe UI"/>
              </a:defRPr>
            </a:pPr>
            <a:r>
              <a:t>• Xóa node có 2 con bằng cách đính nhánh phải vào nhánh trái.</a:t>
            </a:r>
          </a:p>
          <a:p>
            <a:pPr>
              <a:spcAft>
                <a:spcPts val="1000"/>
              </a:spcAft>
              <a:defRPr sz="1300">
                <a:solidFill>
                  <a:srgbClr val="BFDBFE"/>
                </a:solidFill>
                <a:latin typeface="Segoe UI"/>
              </a:defRPr>
            </a:pPr>
            <a:r>
              <a:t>• Điểm nối: Treo nhánh con bên phải của node bị xóa vào bên phải của nút có giá trị lớn nhất thuộc nhánh con bên trái (nút cực phải nhánh trái).</a:t>
            </a:r>
          </a:p>
          <a:p>
            <a:pPr>
              <a:spcAft>
                <a:spcPts val="1000"/>
              </a:spcAft>
              <a:defRPr sz="1300">
                <a:solidFill>
                  <a:srgbClr val="BFDBFE"/>
                </a:solidFill>
                <a:latin typeface="Segoe UI"/>
              </a:defRPr>
            </a:pPr>
            <a:r>
              <a:t>• Đảm bảo BST: Tránh việc cấu trúc lại toàn bộ cây và bảo toàn các giá trị lớn hơn hoặc bằng nút gốc nằm bên phải.</a:t>
            </a:r>
          </a:p>
          <a:p>
            <a:pPr>
              <a:spcAft>
                <a:spcPts val="1000"/>
              </a:spcAft>
              <a:defRPr sz="1300">
                <a:solidFill>
                  <a:srgbClr val="BFDBFE"/>
                </a:solidFill>
                <a:latin typeface="Segoe UI"/>
              </a:defRPr>
            </a:pPr>
            <a:r>
              <a:t>• Tiếp theo: Cha của node xóa liên kết thẳng tới con trái của node bị xóa.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645920"/>
            <a:ext cx="4846320" cy="4389120"/>
          </a:xfrm>
          <a:prstGeom prst="roundRect">
            <a:avLst/>
          </a:prstGeom>
          <a:solidFill>
            <a:srgbClr val="FAF8F6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920240"/>
            <a:ext cx="42976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0A143C"/>
                </a:solidFill>
                <a:latin typeface="Segoe UI"/>
              </a:defRPr>
            </a:pPr>
            <a:r>
              <a:t>Bước 1: Tìm Node &amp; Node Cha</a:t>
            </a:r>
          </a:p>
          <a:p>
            <a:pPr>
              <a:spcAft>
                <a:spcPts val="0"/>
              </a:spcAft>
              <a:defRPr sz="1100">
                <a:latin typeface="Consolas"/>
              </a:defRPr>
            </a:pPr>
            <a:r>
              <a:rPr b="1">
                <a:solidFill>
                  <a:srgbClr val="1B55BA"/>
                </a:solidFill>
              </a:rPr>
              <a:t>Node </a:t>
            </a:r>
            <a:r>
              <a:rPr>
                <a:solidFill>
                  <a:srgbClr val="374151"/>
                </a:solidFill>
              </a:rPr>
              <a:t>deleteNode </a:t>
            </a:r>
            <a:r>
              <a:rPr>
                <a:solidFill>
                  <a:srgbClr val="374151"/>
                </a:solidFill>
              </a:rPr>
              <a:t>= </a:t>
            </a:r>
            <a:r>
              <a:rPr>
                <a:solidFill>
                  <a:srgbClr val="374151"/>
                </a:solidFill>
              </a:rPr>
              <a:t>root; </a:t>
            </a:r>
          </a:p>
          <a:p>
            <a:pPr>
              <a:spcAft>
                <a:spcPts val="0"/>
              </a:spcAft>
              <a:defRPr sz="1100">
                <a:latin typeface="Consolas"/>
              </a:defRPr>
            </a:pPr>
            <a:r>
              <a:rPr b="1">
                <a:solidFill>
                  <a:srgbClr val="1B55BA"/>
                </a:solidFill>
              </a:rPr>
              <a:t>Node </a:t>
            </a:r>
            <a:r>
              <a:rPr>
                <a:solidFill>
                  <a:srgbClr val="374151"/>
                </a:solidFill>
              </a:rPr>
              <a:t>parentOfDeleteNode </a:t>
            </a:r>
            <a:r>
              <a:rPr>
                <a:solidFill>
                  <a:srgbClr val="374151"/>
                </a:solidFill>
              </a:rPr>
              <a:t>= </a:t>
            </a:r>
            <a:r>
              <a:rPr>
                <a:solidFill>
                  <a:srgbClr val="374151"/>
                </a:solidFill>
              </a:rPr>
              <a:t>null; </a:t>
            </a:r>
          </a:p>
          <a:p>
            <a:pPr>
              <a:spcAft>
                <a:spcPts val="0"/>
              </a:spcAft>
              <a:defRPr sz="1100">
                <a:latin typeface="Consolas"/>
              </a:defRPr>
            </a:pPr>
            <a:r>
              <a:rPr b="1">
                <a:solidFill>
                  <a:srgbClr val="7C3AED"/>
                </a:solidFill>
              </a:rPr>
              <a:t>while </a:t>
            </a:r>
            <a:r>
              <a:rPr>
                <a:solidFill>
                  <a:srgbClr val="374151"/>
                </a:solidFill>
              </a:rPr>
              <a:t>(deleteNode </a:t>
            </a:r>
            <a:r>
              <a:rPr>
                <a:solidFill>
                  <a:srgbClr val="374151"/>
                </a:solidFill>
              </a:rPr>
              <a:t>!= </a:t>
            </a:r>
            <a:r>
              <a:rPr>
                <a:solidFill>
                  <a:srgbClr val="374151"/>
                </a:solidFill>
              </a:rPr>
              <a:t>null) </a:t>
            </a:r>
            <a:r>
              <a:rPr>
                <a:solidFill>
                  <a:srgbClr val="374151"/>
                </a:solidFill>
              </a:rPr>
              <a:t>{ </a:t>
            </a:r>
          </a:p>
          <a:p>
            <a:pPr>
              <a:spcAft>
                <a:spcPts val="0"/>
              </a:spcAft>
              <a:defRPr sz="1100">
                <a:latin typeface="Consolas"/>
              </a:defRPr>
            </a:pPr>
            <a:r>
              <a:rPr>
                <a:solidFill>
                  <a:srgbClr val="374151"/>
                </a:solidFill>
              </a:rPr>
              <a:t> </a:t>
            </a:r>
            <a:r>
              <a:rPr>
                <a:solidFill>
                  <a:srgbClr val="374151"/>
                </a:solidFill>
              </a:rPr>
              <a:t> </a:t>
            </a:r>
            <a:r>
              <a:rPr b="1">
                <a:solidFill>
                  <a:srgbClr val="7C3AED"/>
                </a:solidFill>
              </a:rPr>
              <a:t>if </a:t>
            </a:r>
            <a:r>
              <a:rPr>
                <a:solidFill>
                  <a:srgbClr val="374151"/>
                </a:solidFill>
              </a:rPr>
              <a:t>(deleteNode.info </a:t>
            </a:r>
            <a:r>
              <a:rPr>
                <a:solidFill>
                  <a:srgbClr val="374151"/>
                </a:solidFill>
              </a:rPr>
              <a:t>== </a:t>
            </a:r>
            <a:r>
              <a:rPr>
                <a:solidFill>
                  <a:srgbClr val="374151"/>
                </a:solidFill>
              </a:rPr>
              <a:t>x) </a:t>
            </a:r>
            <a:r>
              <a:rPr>
                <a:solidFill>
                  <a:srgbClr val="374151"/>
                </a:solidFill>
              </a:rPr>
              <a:t>break; </a:t>
            </a:r>
          </a:p>
          <a:p>
            <a:pPr>
              <a:spcAft>
                <a:spcPts val="0"/>
              </a:spcAft>
              <a:defRPr sz="1100">
                <a:latin typeface="Consolas"/>
              </a:defRPr>
            </a:pPr>
            <a:r>
              <a:rPr>
                <a:solidFill>
                  <a:srgbClr val="374151"/>
                </a:solidFill>
              </a:rPr>
              <a:t> </a:t>
            </a:r>
            <a:r>
              <a:rPr>
                <a:solidFill>
                  <a:srgbClr val="374151"/>
                </a:solidFill>
              </a:rPr>
              <a:t> </a:t>
            </a:r>
            <a:r>
              <a:rPr>
                <a:solidFill>
                  <a:srgbClr val="374151"/>
                </a:solidFill>
              </a:rPr>
              <a:t>parentOfDeleteNode </a:t>
            </a:r>
            <a:r>
              <a:rPr>
                <a:solidFill>
                  <a:srgbClr val="374151"/>
                </a:solidFill>
              </a:rPr>
              <a:t>= </a:t>
            </a:r>
            <a:r>
              <a:rPr>
                <a:solidFill>
                  <a:srgbClr val="374151"/>
                </a:solidFill>
              </a:rPr>
              <a:t>deleteNode; </a:t>
            </a:r>
          </a:p>
          <a:p>
            <a:pPr>
              <a:spcAft>
                <a:spcPts val="0"/>
              </a:spcAft>
              <a:defRPr sz="1100">
                <a:latin typeface="Consolas"/>
              </a:defRPr>
            </a:pPr>
            <a:r>
              <a:rPr>
                <a:solidFill>
                  <a:srgbClr val="374151"/>
                </a:solidFill>
              </a:rPr>
              <a:t> </a:t>
            </a:r>
            <a:r>
              <a:rPr>
                <a:solidFill>
                  <a:srgbClr val="374151"/>
                </a:solidFill>
              </a:rPr>
              <a:t> </a:t>
            </a:r>
            <a:r>
              <a:rPr b="1">
                <a:solidFill>
                  <a:srgbClr val="7C3AED"/>
                </a:solidFill>
              </a:rPr>
              <a:t>if </a:t>
            </a:r>
            <a:r>
              <a:rPr>
                <a:solidFill>
                  <a:srgbClr val="374151"/>
                </a:solidFill>
              </a:rPr>
              <a:t>(x </a:t>
            </a:r>
            <a:r>
              <a:rPr>
                <a:solidFill>
                  <a:srgbClr val="374151"/>
                </a:solidFill>
              </a:rPr>
              <a:t>&lt; </a:t>
            </a:r>
            <a:r>
              <a:rPr>
                <a:solidFill>
                  <a:srgbClr val="374151"/>
                </a:solidFill>
              </a:rPr>
              <a:t>deleteNode.info) </a:t>
            </a:r>
          </a:p>
          <a:p>
            <a:pPr>
              <a:spcAft>
                <a:spcPts val="0"/>
              </a:spcAft>
              <a:defRPr sz="1100">
                <a:latin typeface="Consolas"/>
              </a:defRPr>
            </a:pPr>
            <a:r>
              <a:rPr>
                <a:solidFill>
                  <a:srgbClr val="374151"/>
                </a:solidFill>
              </a:rPr>
              <a:t> </a:t>
            </a:r>
            <a:r>
              <a:rPr>
                <a:solidFill>
                  <a:srgbClr val="374151"/>
                </a:solidFill>
              </a:rPr>
              <a:t> </a:t>
            </a:r>
            <a:r>
              <a:rPr>
                <a:solidFill>
                  <a:srgbClr val="374151"/>
                </a:solidFill>
              </a:rPr>
              <a:t> </a:t>
            </a:r>
            <a:r>
              <a:rPr>
                <a:solidFill>
                  <a:srgbClr val="374151"/>
                </a:solidFill>
              </a:rPr>
              <a:t> </a:t>
            </a:r>
            <a:r>
              <a:rPr>
                <a:solidFill>
                  <a:srgbClr val="374151"/>
                </a:solidFill>
              </a:rPr>
              <a:t>deleteNode </a:t>
            </a:r>
            <a:r>
              <a:rPr>
                <a:solidFill>
                  <a:srgbClr val="374151"/>
                </a:solidFill>
              </a:rPr>
              <a:t>= </a:t>
            </a:r>
            <a:r>
              <a:rPr>
                <a:solidFill>
                  <a:srgbClr val="374151"/>
                </a:solidFill>
              </a:rPr>
              <a:t>deleteNode.left; </a:t>
            </a:r>
          </a:p>
          <a:p>
            <a:pPr>
              <a:spcAft>
                <a:spcPts val="0"/>
              </a:spcAft>
              <a:defRPr sz="1100">
                <a:latin typeface="Consolas"/>
              </a:defRPr>
            </a:pPr>
            <a:r>
              <a:rPr>
                <a:solidFill>
                  <a:srgbClr val="374151"/>
                </a:solidFill>
              </a:rPr>
              <a:t> </a:t>
            </a:r>
            <a:r>
              <a:rPr>
                <a:solidFill>
                  <a:srgbClr val="374151"/>
                </a:solidFill>
              </a:rPr>
              <a:t> </a:t>
            </a:r>
            <a:r>
              <a:rPr b="1">
                <a:solidFill>
                  <a:srgbClr val="7C3AED"/>
                </a:solidFill>
              </a:rPr>
              <a:t>else </a:t>
            </a:r>
          </a:p>
          <a:p>
            <a:pPr>
              <a:spcAft>
                <a:spcPts val="0"/>
              </a:spcAft>
              <a:defRPr sz="1100">
                <a:latin typeface="Consolas"/>
              </a:defRPr>
            </a:pPr>
            <a:r>
              <a:rPr>
                <a:solidFill>
                  <a:srgbClr val="374151"/>
                </a:solidFill>
              </a:rPr>
              <a:t> </a:t>
            </a:r>
            <a:r>
              <a:rPr>
                <a:solidFill>
                  <a:srgbClr val="374151"/>
                </a:solidFill>
              </a:rPr>
              <a:t> </a:t>
            </a:r>
            <a:r>
              <a:rPr>
                <a:solidFill>
                  <a:srgbClr val="374151"/>
                </a:solidFill>
              </a:rPr>
              <a:t> </a:t>
            </a:r>
            <a:r>
              <a:rPr>
                <a:solidFill>
                  <a:srgbClr val="374151"/>
                </a:solidFill>
              </a:rPr>
              <a:t> </a:t>
            </a:r>
            <a:r>
              <a:rPr>
                <a:solidFill>
                  <a:srgbClr val="374151"/>
                </a:solidFill>
              </a:rPr>
              <a:t>deleteNode </a:t>
            </a:r>
            <a:r>
              <a:rPr>
                <a:solidFill>
                  <a:srgbClr val="374151"/>
                </a:solidFill>
              </a:rPr>
              <a:t>= </a:t>
            </a:r>
            <a:r>
              <a:rPr>
                <a:solidFill>
                  <a:srgbClr val="374151"/>
                </a:solidFill>
              </a:rPr>
              <a:t>deleteNode.right; </a:t>
            </a:r>
          </a:p>
          <a:p>
            <a:pPr>
              <a:spcAft>
                <a:spcPts val="0"/>
              </a:spcAft>
              <a:defRPr sz="1100">
                <a:latin typeface="Consolas"/>
              </a:defRPr>
            </a:pPr>
            <a:r>
              <a:rPr>
                <a:solidFill>
                  <a:srgbClr val="374151"/>
                </a:solidFill>
              </a:rPr>
              <a:t>}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0" y="4389120"/>
            <a:ext cx="1188720" cy="411480"/>
          </a:xfrm>
          <a:prstGeom prst="roundRect">
            <a:avLst/>
          </a:prstGeom>
          <a:solidFill>
            <a:srgbClr val="1B55B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78440" y="4558284"/>
            <a:ext cx="73152" cy="7315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241280" y="4873752"/>
            <a:ext cx="1188720" cy="411480"/>
          </a:xfrm>
          <a:prstGeom prst="roundRect">
            <a:avLst/>
          </a:prstGeom>
          <a:solidFill>
            <a:srgbClr val="1B55B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78440" y="5042916"/>
            <a:ext cx="73152" cy="7315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41280" y="5358384"/>
            <a:ext cx="1188720" cy="411480"/>
          </a:xfrm>
          <a:prstGeom prst="roundRect">
            <a:avLst/>
          </a:prstGeom>
          <a:solidFill>
            <a:srgbClr val="1B55B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78440" y="5527548"/>
            <a:ext cx="73152" cy="7315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6576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82880" cy="182880"/>
          </a:xfrm>
          <a:prstGeom prst="ellipse">
            <a:avLst/>
          </a:prstGeom>
          <a:solidFill>
            <a:srgbClr val="F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657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3716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2648" y="1435608"/>
            <a:ext cx="54864" cy="5486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3600">
                <a:solidFill>
                  <a:srgbClr val="0A143C"/>
                </a:solidFill>
                <a:latin typeface="Impact"/>
              </a:defRPr>
            </a:pPr>
            <a:r>
              <a:t>CÁC TRƯỜNG HỢP XÓA ĐƠN GIẢN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2011680" cy="54864"/>
          </a:xfrm>
          <a:prstGeom prst="rect">
            <a:avLst/>
          </a:prstGeom>
          <a:solidFill>
            <a:srgbClr val="1B55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64992" cy="4389120"/>
          </a:xfrm>
          <a:prstGeom prst="roundRect">
            <a:avLst/>
          </a:prstGeom>
          <a:solidFill>
            <a:srgbClr val="1B55B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74520"/>
            <a:ext cx="2907792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Case 1: Xóa Node Lá</a:t>
            </a:r>
          </a:p>
          <a:p>
            <a:pPr>
              <a:spcAft>
                <a:spcPts val="2500"/>
              </a:spcAft>
              <a:defRPr sz="1200">
                <a:solidFill>
                  <a:srgbClr val="BFDBFE"/>
                </a:solidFill>
                <a:latin typeface="Segoe UI"/>
              </a:defRPr>
            </a:pPr>
            <a:r>
              <a:t>Node không có con trái và con phải. Gán nhánh liên kết tương ứng của cha về null.</a:t>
            </a:r>
          </a:p>
          <a:p>
            <a:pPr>
              <a:spcAft>
                <a:spcPts val="0"/>
              </a:spcAft>
              <a:defRPr sz="1000">
                <a:latin typeface="Consolas"/>
              </a:defRPr>
            </a:pPr>
            <a:r>
              <a:rPr>
                <a:solidFill>
                  <a:srgbClr val="FDA4BA"/>
                </a:solidFill>
              </a:rPr>
              <a:t>if </a:t>
            </a:r>
            <a:r>
              <a:rPr>
                <a:solidFill>
                  <a:srgbClr val="FFFFFF"/>
                </a:solidFill>
              </a:rPr>
              <a:t>(parent </a:t>
            </a:r>
            <a:r>
              <a:rPr>
                <a:solidFill>
                  <a:srgbClr val="FFFFFF"/>
                </a:solidFill>
              </a:rPr>
              <a:t>== </a:t>
            </a:r>
            <a:r>
              <a:rPr>
                <a:solidFill>
                  <a:srgbClr val="FFFFFF"/>
                </a:solidFill>
              </a:rPr>
              <a:t>null) </a:t>
            </a:r>
            <a:r>
              <a:rPr>
                <a:solidFill>
                  <a:srgbClr val="67E8F9"/>
                </a:solidFill>
              </a:rPr>
              <a:t>root </a:t>
            </a:r>
            <a:r>
              <a:rPr>
                <a:solidFill>
                  <a:srgbClr val="FFFFFF"/>
                </a:solidFill>
              </a:rPr>
              <a:t>= </a:t>
            </a:r>
            <a:r>
              <a:rPr>
                <a:solidFill>
                  <a:srgbClr val="FFFFFF"/>
                </a:solidFill>
              </a:rPr>
              <a:t>null; </a:t>
            </a:r>
          </a:p>
          <a:p>
            <a:pPr>
              <a:spcAft>
                <a:spcPts val="0"/>
              </a:spcAft>
              <a:defRPr sz="1000">
                <a:latin typeface="Consolas"/>
              </a:defRPr>
            </a:pPr>
            <a:r>
              <a:rPr>
                <a:solidFill>
                  <a:srgbClr val="FDA4BA"/>
                </a:solidFill>
              </a:rPr>
              <a:t>else </a:t>
            </a:r>
            <a:r>
              <a:rPr>
                <a:solidFill>
                  <a:srgbClr val="FDA4BA"/>
                </a:solidFill>
              </a:rPr>
              <a:t>if </a:t>
            </a:r>
            <a:r>
              <a:rPr>
                <a:solidFill>
                  <a:srgbClr val="FFFFFF"/>
                </a:solidFill>
              </a:rPr>
              <a:t>(parent.left </a:t>
            </a:r>
            <a:r>
              <a:rPr>
                <a:solidFill>
                  <a:srgbClr val="FFFFFF"/>
                </a:solidFill>
              </a:rPr>
              <a:t>== </a:t>
            </a:r>
            <a:r>
              <a:rPr>
                <a:solidFill>
                  <a:srgbClr val="FFFFFF"/>
                </a:solidFill>
              </a:rPr>
              <a:t>delete) </a:t>
            </a:r>
          </a:p>
          <a:p>
            <a:pPr>
              <a:spcAft>
                <a:spcPts val="0"/>
              </a:spcAft>
              <a:defRPr sz="100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parent.left </a:t>
            </a:r>
            <a:r>
              <a:rPr>
                <a:solidFill>
                  <a:srgbClr val="FFFFFF"/>
                </a:solidFill>
              </a:rPr>
              <a:t>= </a:t>
            </a:r>
            <a:r>
              <a:rPr>
                <a:solidFill>
                  <a:srgbClr val="FFFFFF"/>
                </a:solidFill>
              </a:rPr>
              <a:t>null; </a:t>
            </a:r>
          </a:p>
          <a:p>
            <a:pPr>
              <a:spcAft>
                <a:spcPts val="0"/>
              </a:spcAft>
              <a:defRPr sz="1000">
                <a:latin typeface="Consolas"/>
              </a:defRPr>
            </a:pPr>
            <a:r>
              <a:rPr>
                <a:solidFill>
                  <a:srgbClr val="FDA4BA"/>
                </a:solidFill>
              </a:rPr>
              <a:t>else </a:t>
            </a:r>
            <a:r>
              <a:rPr>
                <a:solidFill>
                  <a:srgbClr val="FFFFFF"/>
                </a:solidFill>
              </a:rPr>
              <a:t>parent.right </a:t>
            </a:r>
            <a:r>
              <a:rPr>
                <a:solidFill>
                  <a:srgbClr val="FFFFFF"/>
                </a:solidFill>
              </a:rPr>
              <a:t>= </a:t>
            </a:r>
            <a:r>
              <a:rPr>
                <a:solidFill>
                  <a:srgbClr val="FFFFFF"/>
                </a:solidFill>
              </a:rPr>
              <a:t>null;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45920"/>
            <a:ext cx="3364992" cy="4389120"/>
          </a:xfrm>
          <a:prstGeom prst="roundRect">
            <a:avLst/>
          </a:prstGeom>
          <a:solidFill>
            <a:srgbClr val="1B55B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874520"/>
            <a:ext cx="2907792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Case 2: Chỉ Có Con Trái</a:t>
            </a:r>
          </a:p>
          <a:p>
            <a:pPr>
              <a:spcAft>
                <a:spcPts val="2500"/>
              </a:spcAft>
              <a:defRPr sz="1200">
                <a:solidFill>
                  <a:srgbClr val="BFDBFE"/>
                </a:solidFill>
                <a:latin typeface="Segoe UI"/>
              </a:defRPr>
            </a:pPr>
            <a:r>
              <a:t>Node bị xóa chỉ có con trái. Cha liên kết trực tiếp tới con trái của node bị xóa.</a:t>
            </a:r>
          </a:p>
          <a:p>
            <a:pPr>
              <a:spcAft>
                <a:spcPts val="0"/>
              </a:spcAft>
              <a:defRPr sz="1000">
                <a:latin typeface="Consolas"/>
              </a:defRPr>
            </a:pPr>
            <a:r>
              <a:rPr>
                <a:solidFill>
                  <a:srgbClr val="FDA4BA"/>
                </a:solidFill>
              </a:rPr>
              <a:t>if </a:t>
            </a:r>
            <a:r>
              <a:rPr>
                <a:solidFill>
                  <a:srgbClr val="FFFFFF"/>
                </a:solidFill>
              </a:rPr>
              <a:t>(parent </a:t>
            </a:r>
            <a:r>
              <a:rPr>
                <a:solidFill>
                  <a:srgbClr val="FFFFFF"/>
                </a:solidFill>
              </a:rPr>
              <a:t>== </a:t>
            </a:r>
            <a:r>
              <a:rPr>
                <a:solidFill>
                  <a:srgbClr val="FFFFFF"/>
                </a:solidFill>
              </a:rPr>
              <a:t>null) </a:t>
            </a:r>
            <a:r>
              <a:rPr>
                <a:solidFill>
                  <a:srgbClr val="67E8F9"/>
                </a:solidFill>
              </a:rPr>
              <a:t>root </a:t>
            </a:r>
            <a:r>
              <a:rPr>
                <a:solidFill>
                  <a:srgbClr val="FFFFFF"/>
                </a:solidFill>
              </a:rPr>
              <a:t>= </a:t>
            </a:r>
            <a:r>
              <a:rPr>
                <a:solidFill>
                  <a:srgbClr val="FFFFFF"/>
                </a:solidFill>
              </a:rPr>
              <a:t>delete.left; </a:t>
            </a:r>
          </a:p>
          <a:p>
            <a:pPr>
              <a:spcAft>
                <a:spcPts val="0"/>
              </a:spcAft>
              <a:defRPr sz="1000">
                <a:latin typeface="Consolas"/>
              </a:defRPr>
            </a:pPr>
            <a:r>
              <a:rPr>
                <a:solidFill>
                  <a:srgbClr val="FDA4BA"/>
                </a:solidFill>
              </a:rPr>
              <a:t>else </a:t>
            </a:r>
            <a:r>
              <a:rPr>
                <a:solidFill>
                  <a:srgbClr val="FDA4BA"/>
                </a:solidFill>
              </a:rPr>
              <a:t>if </a:t>
            </a:r>
            <a:r>
              <a:rPr>
                <a:solidFill>
                  <a:srgbClr val="FFFFFF"/>
                </a:solidFill>
              </a:rPr>
              <a:t>(parent.left </a:t>
            </a:r>
            <a:r>
              <a:rPr>
                <a:solidFill>
                  <a:srgbClr val="FFFFFF"/>
                </a:solidFill>
              </a:rPr>
              <a:t>== </a:t>
            </a:r>
            <a:r>
              <a:rPr>
                <a:solidFill>
                  <a:srgbClr val="FFFFFF"/>
                </a:solidFill>
              </a:rPr>
              <a:t>delete) </a:t>
            </a:r>
          </a:p>
          <a:p>
            <a:pPr>
              <a:spcAft>
                <a:spcPts val="0"/>
              </a:spcAft>
              <a:defRPr sz="100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parent.left </a:t>
            </a:r>
            <a:r>
              <a:rPr>
                <a:solidFill>
                  <a:srgbClr val="FFFFFF"/>
                </a:solidFill>
              </a:rPr>
              <a:t>= </a:t>
            </a:r>
            <a:r>
              <a:rPr>
                <a:solidFill>
                  <a:srgbClr val="FFFFFF"/>
                </a:solidFill>
              </a:rPr>
              <a:t>delete.left; </a:t>
            </a:r>
          </a:p>
          <a:p>
            <a:pPr>
              <a:spcAft>
                <a:spcPts val="0"/>
              </a:spcAft>
              <a:defRPr sz="1000">
                <a:latin typeface="Consolas"/>
              </a:defRPr>
            </a:pPr>
            <a:r>
              <a:rPr>
                <a:solidFill>
                  <a:srgbClr val="FDA4BA"/>
                </a:solidFill>
              </a:rPr>
              <a:t>else </a:t>
            </a:r>
            <a:r>
              <a:rPr>
                <a:solidFill>
                  <a:srgbClr val="FFFFFF"/>
                </a:solidFill>
              </a:rPr>
              <a:t>parent.right </a:t>
            </a:r>
            <a:r>
              <a:rPr>
                <a:solidFill>
                  <a:srgbClr val="FFFFFF"/>
                </a:solidFill>
              </a:rPr>
              <a:t>= </a:t>
            </a:r>
            <a:r>
              <a:rPr>
                <a:solidFill>
                  <a:srgbClr val="FFFFFF"/>
                </a:solidFill>
              </a:rPr>
              <a:t>delete.left;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645920"/>
            <a:ext cx="3364992" cy="4389120"/>
          </a:xfrm>
          <a:prstGeom prst="roundRect">
            <a:avLst/>
          </a:prstGeom>
          <a:solidFill>
            <a:srgbClr val="1B55B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1874520"/>
            <a:ext cx="2907792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Case 3: Chỉ Có Con Phải</a:t>
            </a:r>
          </a:p>
          <a:p>
            <a:pPr>
              <a:spcAft>
                <a:spcPts val="2500"/>
              </a:spcAft>
              <a:defRPr sz="1200">
                <a:solidFill>
                  <a:srgbClr val="BFDBFE"/>
                </a:solidFill>
                <a:latin typeface="Segoe UI"/>
              </a:defRPr>
            </a:pPr>
            <a:r>
              <a:t>Node bị xóa chỉ có con phải. Cha liên kết trực tiếp tới con phải của node bị xóa.</a:t>
            </a:r>
          </a:p>
          <a:p>
            <a:pPr>
              <a:spcAft>
                <a:spcPts val="0"/>
              </a:spcAft>
              <a:defRPr sz="1000">
                <a:latin typeface="Consolas"/>
              </a:defRPr>
            </a:pPr>
            <a:r>
              <a:rPr>
                <a:solidFill>
                  <a:srgbClr val="FDA4BA"/>
                </a:solidFill>
              </a:rPr>
              <a:t>if </a:t>
            </a:r>
            <a:r>
              <a:rPr>
                <a:solidFill>
                  <a:srgbClr val="FFFFFF"/>
                </a:solidFill>
              </a:rPr>
              <a:t>(parent </a:t>
            </a:r>
            <a:r>
              <a:rPr>
                <a:solidFill>
                  <a:srgbClr val="FFFFFF"/>
                </a:solidFill>
              </a:rPr>
              <a:t>== </a:t>
            </a:r>
            <a:r>
              <a:rPr>
                <a:solidFill>
                  <a:srgbClr val="FFFFFF"/>
                </a:solidFill>
              </a:rPr>
              <a:t>null) </a:t>
            </a:r>
            <a:r>
              <a:rPr>
                <a:solidFill>
                  <a:srgbClr val="67E8F9"/>
                </a:solidFill>
              </a:rPr>
              <a:t>root </a:t>
            </a:r>
            <a:r>
              <a:rPr>
                <a:solidFill>
                  <a:srgbClr val="FFFFFF"/>
                </a:solidFill>
              </a:rPr>
              <a:t>= </a:t>
            </a:r>
            <a:r>
              <a:rPr>
                <a:solidFill>
                  <a:srgbClr val="FFFFFF"/>
                </a:solidFill>
              </a:rPr>
              <a:t>delete.right; </a:t>
            </a:r>
          </a:p>
          <a:p>
            <a:pPr>
              <a:spcAft>
                <a:spcPts val="0"/>
              </a:spcAft>
              <a:defRPr sz="1000">
                <a:latin typeface="Consolas"/>
              </a:defRPr>
            </a:pPr>
            <a:r>
              <a:rPr>
                <a:solidFill>
                  <a:srgbClr val="FDA4BA"/>
                </a:solidFill>
              </a:rPr>
              <a:t>else </a:t>
            </a:r>
            <a:r>
              <a:rPr>
                <a:solidFill>
                  <a:srgbClr val="FDA4BA"/>
                </a:solidFill>
              </a:rPr>
              <a:t>if </a:t>
            </a:r>
            <a:r>
              <a:rPr>
                <a:solidFill>
                  <a:srgbClr val="FFFFFF"/>
                </a:solidFill>
              </a:rPr>
              <a:t>(parent.left </a:t>
            </a:r>
            <a:r>
              <a:rPr>
                <a:solidFill>
                  <a:srgbClr val="FFFFFF"/>
                </a:solidFill>
              </a:rPr>
              <a:t>== </a:t>
            </a:r>
            <a:r>
              <a:rPr>
                <a:solidFill>
                  <a:srgbClr val="FFFFFF"/>
                </a:solidFill>
              </a:rPr>
              <a:t>delete) </a:t>
            </a:r>
          </a:p>
          <a:p>
            <a:pPr>
              <a:spcAft>
                <a:spcPts val="0"/>
              </a:spcAft>
              <a:defRPr sz="100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parent.left </a:t>
            </a:r>
            <a:r>
              <a:rPr>
                <a:solidFill>
                  <a:srgbClr val="FFFFFF"/>
                </a:solidFill>
              </a:rPr>
              <a:t>= </a:t>
            </a:r>
            <a:r>
              <a:rPr>
                <a:solidFill>
                  <a:srgbClr val="FFFFFF"/>
                </a:solidFill>
              </a:rPr>
              <a:t>delete.right; </a:t>
            </a:r>
          </a:p>
          <a:p>
            <a:pPr>
              <a:spcAft>
                <a:spcPts val="0"/>
              </a:spcAft>
              <a:defRPr sz="1000">
                <a:latin typeface="Consolas"/>
              </a:defRPr>
            </a:pPr>
            <a:r>
              <a:rPr>
                <a:solidFill>
                  <a:srgbClr val="FDA4BA"/>
                </a:solidFill>
              </a:rPr>
              <a:t>else </a:t>
            </a:r>
            <a:r>
              <a:rPr>
                <a:solidFill>
                  <a:srgbClr val="FFFFFF"/>
                </a:solidFill>
              </a:rPr>
              <a:t>parent.right </a:t>
            </a:r>
            <a:r>
              <a:rPr>
                <a:solidFill>
                  <a:srgbClr val="FFFFFF"/>
                </a:solidFill>
              </a:rPr>
              <a:t>= </a:t>
            </a:r>
            <a:r>
              <a:rPr>
                <a:solidFill>
                  <a:srgbClr val="FFFFFF"/>
                </a:solidFill>
              </a:rPr>
              <a:t>delete.right;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24160" y="5303520"/>
            <a:ext cx="1097280" cy="320040"/>
          </a:xfrm>
          <a:prstGeom prst="roundRect">
            <a:avLst/>
          </a:prstGeom>
          <a:solidFill>
            <a:srgbClr val="1B55B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61320" y="5426963"/>
            <a:ext cx="73152" cy="7315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424160" y="5696712"/>
            <a:ext cx="1097280" cy="320040"/>
          </a:xfrm>
          <a:prstGeom prst="roundRect">
            <a:avLst/>
          </a:prstGeom>
          <a:solidFill>
            <a:srgbClr val="1B55B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61320" y="5820155"/>
            <a:ext cx="73152" cy="7315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424160" y="6089904"/>
            <a:ext cx="1097280" cy="320040"/>
          </a:xfrm>
          <a:prstGeom prst="roundRect">
            <a:avLst/>
          </a:prstGeom>
          <a:solidFill>
            <a:srgbClr val="1B55B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61320" y="6213347"/>
            <a:ext cx="73152" cy="7315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0100000">
            <a:off x="9326880" y="-731520"/>
            <a:ext cx="4114800" cy="2011680"/>
          </a:xfrm>
          <a:prstGeom prst="rect">
            <a:avLst/>
          </a:prstGeom>
          <a:solidFill>
            <a:srgbClr val="0A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100000">
            <a:off x="8961120" y="-457200"/>
            <a:ext cx="411480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100000">
            <a:off x="8412480" y="-274320"/>
            <a:ext cx="41148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36576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82880" cy="182880"/>
          </a:xfrm>
          <a:prstGeom prst="ellipse">
            <a:avLst/>
          </a:prstGeom>
          <a:solidFill>
            <a:srgbClr val="F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657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88720"/>
            <a:ext cx="13716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2648" y="1435608"/>
            <a:ext cx="54864" cy="5486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3600">
                <a:solidFill>
                  <a:srgbClr val="0A143C"/>
                </a:solidFill>
                <a:latin typeface="Impact"/>
              </a:defRPr>
            </a:pPr>
            <a:r>
              <a:t>TRƯỜNG HỢP 4: NODE CÓ 2 CON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188720"/>
            <a:ext cx="2011680" cy="54864"/>
          </a:xfrm>
          <a:prstGeom prst="rect">
            <a:avLst/>
          </a:prstGeom>
          <a:solidFill>
            <a:srgbClr val="1B55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4846320" cy="4389120"/>
          </a:xfrm>
          <a:prstGeom prst="roundRect">
            <a:avLst/>
          </a:prstGeom>
          <a:solidFill>
            <a:srgbClr val="1B55B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920240"/>
            <a:ext cx="42976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Quy trình thực hiện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Bước 1: Tìm node cực phải nhánh trái: </a:t>
            </a:r>
            <a:r>
              <a:rPr>
                <a:solidFill>
                  <a:srgbClr val="BFDBFE"/>
                </a:solidFill>
              </a:rPr>
              <a:t>replaceNode = deleteNode.left; duyệt tìm nút lớn nhất của nhánh trái.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Bước 2: Hợp nhất cây con bên phải: </a:t>
            </a:r>
            <a:r>
              <a:rPr>
                <a:solidFill>
                  <a:srgbClr val="BFDBFE"/>
                </a:solidFill>
              </a:rPr>
              <a:t>replaceNode.right = deleteNode.right. Nhánh phải của nút xóa được nối vào node cực phải này.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Bước 3: Ngắt nhánh phải cũ: </a:t>
            </a:r>
            <a:r>
              <a:rPr>
                <a:solidFill>
                  <a:srgbClr val="BFDBFE"/>
                </a:solidFill>
              </a:rPr>
              <a:t>deleteNode.right = null. Node cần xóa chuyển thành chỉ còn nhánh con bên trái.</a:t>
            </a:r>
          </a:p>
          <a:p>
            <a:pPr>
              <a:spcAft>
                <a:spcPts val="800"/>
              </a:spcAft>
              <a:defRPr sz="12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Bước 4: Cập nhật cha: </a:t>
            </a:r>
            <a:r>
              <a:rPr>
                <a:solidFill>
                  <a:srgbClr val="BFDBFE"/>
                </a:solidFill>
              </a:rPr>
              <a:t>Liên kết cha của nút xóa với deleteNode.left (hoặc root = deleteNode.left).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645920"/>
            <a:ext cx="4846320" cy="4389120"/>
          </a:xfrm>
          <a:prstGeom prst="roundRect">
            <a:avLst/>
          </a:prstGeom>
          <a:solidFill>
            <a:srgbClr val="1B55B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920240"/>
            <a:ext cx="42976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Mã nguồn Java cài đặt</a:t>
            </a:r>
          </a:p>
          <a:p>
            <a:pPr>
              <a:spcAft>
                <a:spcPts val="0"/>
              </a:spcAft>
              <a:defRPr sz="900">
                <a:latin typeface="Consolas"/>
              </a:defRPr>
            </a:pPr>
            <a:r>
              <a:rPr>
                <a:solidFill>
                  <a:srgbClr val="67E8F9"/>
                </a:solidFill>
              </a:rPr>
              <a:t>Node </a:t>
            </a:r>
            <a:r>
              <a:rPr>
                <a:solidFill>
                  <a:srgbClr val="FFFFFF"/>
                </a:solidFill>
              </a:rPr>
              <a:t>rightOfDeleteNode </a:t>
            </a:r>
            <a:r>
              <a:rPr>
                <a:solidFill>
                  <a:srgbClr val="FFFFFF"/>
                </a:solidFill>
              </a:rPr>
              <a:t>= </a:t>
            </a:r>
            <a:r>
              <a:rPr>
                <a:solidFill>
                  <a:srgbClr val="FFFFFF"/>
                </a:solidFill>
              </a:rPr>
              <a:t>deleteNode.right; </a:t>
            </a:r>
          </a:p>
          <a:p>
            <a:pPr>
              <a:spcAft>
                <a:spcPts val="0"/>
              </a:spcAft>
              <a:defRPr sz="900">
                <a:latin typeface="Consolas"/>
              </a:defRPr>
            </a:pPr>
            <a:r>
              <a:rPr>
                <a:solidFill>
                  <a:srgbClr val="67E8F9"/>
                </a:solidFill>
              </a:rPr>
              <a:t>Node </a:t>
            </a:r>
            <a:r>
              <a:rPr>
                <a:solidFill>
                  <a:srgbClr val="FFFFFF"/>
                </a:solidFill>
              </a:rPr>
              <a:t>replaceNode </a:t>
            </a:r>
            <a:r>
              <a:rPr>
                <a:solidFill>
                  <a:srgbClr val="FFFFFF"/>
                </a:solidFill>
              </a:rPr>
              <a:t>= </a:t>
            </a:r>
            <a:r>
              <a:rPr>
                <a:solidFill>
                  <a:srgbClr val="FFFFFF"/>
                </a:solidFill>
              </a:rPr>
              <a:t>deleteNode.left; </a:t>
            </a:r>
          </a:p>
          <a:p>
            <a:pPr>
              <a:spcAft>
                <a:spcPts val="0"/>
              </a:spcAft>
              <a:defRPr sz="900">
                <a:latin typeface="Consolas"/>
              </a:defRPr>
            </a:pPr>
            <a:r>
              <a:rPr b="1">
                <a:solidFill>
                  <a:srgbClr val="FDA4BA"/>
                </a:solidFill>
              </a:rPr>
              <a:t>while </a:t>
            </a:r>
            <a:r>
              <a:rPr>
                <a:solidFill>
                  <a:srgbClr val="FFFFFF"/>
                </a:solidFill>
              </a:rPr>
              <a:t>(replaceNode.right </a:t>
            </a:r>
            <a:r>
              <a:rPr>
                <a:solidFill>
                  <a:srgbClr val="FFFFFF"/>
                </a:solidFill>
              </a:rPr>
              <a:t>!= </a:t>
            </a:r>
            <a:r>
              <a:rPr>
                <a:solidFill>
                  <a:srgbClr val="FFFFFF"/>
                </a:solidFill>
              </a:rPr>
              <a:t>null) </a:t>
            </a:r>
            <a:r>
              <a:rPr>
                <a:solidFill>
                  <a:srgbClr val="FFFFFF"/>
                </a:solidFill>
              </a:rPr>
              <a:t>{ </a:t>
            </a:r>
          </a:p>
          <a:p>
            <a:pPr>
              <a:spcAft>
                <a:spcPts val="0"/>
              </a:spcAft>
              <a:defRPr sz="90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replaceNode </a:t>
            </a:r>
            <a:r>
              <a:rPr>
                <a:solidFill>
                  <a:srgbClr val="FFFFFF"/>
                </a:solidFill>
              </a:rPr>
              <a:t>= </a:t>
            </a:r>
            <a:r>
              <a:rPr>
                <a:solidFill>
                  <a:srgbClr val="FFFFFF"/>
                </a:solidFill>
              </a:rPr>
              <a:t>replaceNode.right; </a:t>
            </a:r>
          </a:p>
          <a:p>
            <a:pPr>
              <a:spcAft>
                <a:spcPts val="0"/>
              </a:spcAft>
              <a:defRPr sz="90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} </a:t>
            </a:r>
          </a:p>
          <a:p>
            <a:pPr>
              <a:spcAft>
                <a:spcPts val="0"/>
              </a:spcAft>
              <a:defRPr sz="90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replaceNode.right </a:t>
            </a:r>
            <a:r>
              <a:rPr>
                <a:solidFill>
                  <a:srgbClr val="FFFFFF"/>
                </a:solidFill>
              </a:rPr>
              <a:t>= </a:t>
            </a:r>
            <a:r>
              <a:rPr>
                <a:solidFill>
                  <a:srgbClr val="FFFFFF"/>
                </a:solidFill>
              </a:rPr>
              <a:t>rightOfDeleteNode; </a:t>
            </a:r>
          </a:p>
          <a:p>
            <a:pPr>
              <a:spcAft>
                <a:spcPts val="0"/>
              </a:spcAft>
              <a:defRPr sz="90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deleteNode.right </a:t>
            </a:r>
            <a:r>
              <a:rPr>
                <a:solidFill>
                  <a:srgbClr val="FFFFFF"/>
                </a:solidFill>
              </a:rPr>
              <a:t>= </a:t>
            </a:r>
            <a:r>
              <a:rPr>
                <a:solidFill>
                  <a:srgbClr val="FFFFFF"/>
                </a:solidFill>
              </a:rPr>
              <a:t>null; </a:t>
            </a:r>
          </a:p>
          <a:p>
            <a:pPr>
              <a:spcAft>
                <a:spcPts val="0"/>
              </a:spcAft>
              <a:defRPr sz="900">
                <a:latin typeface="Consolas"/>
              </a:defRPr>
            </a:pPr>
            <a:r>
              <a:rPr b="1">
                <a:solidFill>
                  <a:srgbClr val="FDA4BA"/>
                </a:solidFill>
              </a:rPr>
              <a:t>if </a:t>
            </a:r>
            <a:r>
              <a:rPr>
                <a:solidFill>
                  <a:srgbClr val="FFFFFF"/>
                </a:solidFill>
              </a:rPr>
              <a:t>(parentOfDeleteNode </a:t>
            </a:r>
            <a:r>
              <a:rPr>
                <a:solidFill>
                  <a:srgbClr val="FFFFFF"/>
                </a:solidFill>
              </a:rPr>
              <a:t>== </a:t>
            </a:r>
            <a:r>
              <a:rPr>
                <a:solidFill>
                  <a:srgbClr val="FFFFFF"/>
                </a:solidFill>
              </a:rPr>
              <a:t>null) </a:t>
            </a:r>
            <a:r>
              <a:rPr>
                <a:solidFill>
                  <a:srgbClr val="FFFFFF"/>
                </a:solidFill>
              </a:rPr>
              <a:t>{ </a:t>
            </a:r>
          </a:p>
          <a:p>
            <a:pPr>
              <a:spcAft>
                <a:spcPts val="0"/>
              </a:spcAft>
              <a:defRPr sz="90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root </a:t>
            </a:r>
            <a:r>
              <a:rPr>
                <a:solidFill>
                  <a:srgbClr val="FFFFFF"/>
                </a:solidFill>
              </a:rPr>
              <a:t>= </a:t>
            </a:r>
            <a:r>
              <a:rPr>
                <a:solidFill>
                  <a:srgbClr val="FFFFFF"/>
                </a:solidFill>
              </a:rPr>
              <a:t>deleteNode.left; </a:t>
            </a:r>
          </a:p>
          <a:p>
            <a:pPr>
              <a:spcAft>
                <a:spcPts val="0"/>
              </a:spcAft>
              <a:defRPr sz="90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} </a:t>
            </a:r>
            <a:r>
              <a:rPr b="1">
                <a:solidFill>
                  <a:srgbClr val="FDA4BA"/>
                </a:solidFill>
              </a:rPr>
              <a:t>else </a:t>
            </a:r>
            <a:r>
              <a:rPr>
                <a:solidFill>
                  <a:srgbClr val="FFFFFF"/>
                </a:solidFill>
              </a:rPr>
              <a:t>{ </a:t>
            </a:r>
          </a:p>
          <a:p>
            <a:pPr>
              <a:spcAft>
                <a:spcPts val="0"/>
              </a:spcAft>
              <a:defRPr sz="90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 </a:t>
            </a:r>
            <a:r>
              <a:rPr b="1">
                <a:solidFill>
                  <a:srgbClr val="FDA4BA"/>
                </a:solidFill>
              </a:rPr>
              <a:t>if </a:t>
            </a:r>
            <a:r>
              <a:rPr>
                <a:solidFill>
                  <a:srgbClr val="FFFFFF"/>
                </a:solidFill>
              </a:rPr>
              <a:t>(parentOfDeleteNode.left </a:t>
            </a:r>
            <a:r>
              <a:rPr>
                <a:solidFill>
                  <a:srgbClr val="FFFFFF"/>
                </a:solidFill>
              </a:rPr>
              <a:t>== </a:t>
            </a:r>
            <a:r>
              <a:rPr>
                <a:solidFill>
                  <a:srgbClr val="FFFFFF"/>
                </a:solidFill>
              </a:rPr>
              <a:t>deleteNode) </a:t>
            </a:r>
          </a:p>
          <a:p>
            <a:pPr>
              <a:spcAft>
                <a:spcPts val="0"/>
              </a:spcAft>
              <a:defRPr sz="90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parentOfDeleteNode.left </a:t>
            </a:r>
            <a:r>
              <a:rPr>
                <a:solidFill>
                  <a:srgbClr val="FFFFFF"/>
                </a:solidFill>
              </a:rPr>
              <a:t>= </a:t>
            </a:r>
            <a:r>
              <a:rPr>
                <a:solidFill>
                  <a:srgbClr val="FFFFFF"/>
                </a:solidFill>
              </a:rPr>
              <a:t>deleteNode.left; </a:t>
            </a:r>
          </a:p>
          <a:p>
            <a:pPr>
              <a:spcAft>
                <a:spcPts val="0"/>
              </a:spcAft>
              <a:defRPr sz="90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 </a:t>
            </a:r>
            <a:r>
              <a:rPr b="1">
                <a:solidFill>
                  <a:srgbClr val="FDA4BA"/>
                </a:solidFill>
              </a:rPr>
              <a:t>else </a:t>
            </a:r>
          </a:p>
          <a:p>
            <a:pPr>
              <a:spcAft>
                <a:spcPts val="0"/>
              </a:spcAft>
              <a:defRPr sz="90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parentOfDeleteNode.right </a:t>
            </a:r>
            <a:r>
              <a:rPr>
                <a:solidFill>
                  <a:srgbClr val="FFFFFF"/>
                </a:solidFill>
              </a:rPr>
              <a:t>= </a:t>
            </a:r>
            <a:r>
              <a:rPr>
                <a:solidFill>
                  <a:srgbClr val="FFFFFF"/>
                </a:solidFill>
              </a:rPr>
              <a:t>deleteNode.left; </a:t>
            </a:r>
          </a:p>
          <a:p>
            <a:pPr>
              <a:spcAft>
                <a:spcPts val="0"/>
              </a:spcAft>
              <a:defRPr sz="90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} </a:t>
            </a:r>
          </a:p>
          <a:p>
            <a:pPr>
              <a:spcAft>
                <a:spcPts val="0"/>
              </a:spcAft>
              <a:defRPr sz="900"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deleteNode.left </a:t>
            </a:r>
            <a:r>
              <a:rPr>
                <a:solidFill>
                  <a:srgbClr val="FFFFFF"/>
                </a:solidFill>
              </a:rPr>
              <a:t>= </a:t>
            </a:r>
            <a:r>
              <a:rPr>
                <a:solidFill>
                  <a:srgbClr val="FFFFFF"/>
                </a:solidFill>
              </a:rPr>
              <a:t>null;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0100000">
            <a:off x="9326880" y="-731520"/>
            <a:ext cx="4114800" cy="2011680"/>
          </a:xfrm>
          <a:prstGeom prst="rect">
            <a:avLst/>
          </a:prstGeom>
          <a:solidFill>
            <a:srgbClr val="0A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100000">
            <a:off x="8961120" y="-457200"/>
            <a:ext cx="411480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100000">
            <a:off x="8412480" y="-274320"/>
            <a:ext cx="41148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36576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82880" cy="182880"/>
          </a:xfrm>
          <a:prstGeom prst="ellipse">
            <a:avLst/>
          </a:prstGeom>
          <a:solidFill>
            <a:srgbClr val="FA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65760" cy="137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88720"/>
            <a:ext cx="13716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2648" y="1435608"/>
            <a:ext cx="54864" cy="5486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3600">
                <a:solidFill>
                  <a:srgbClr val="0A143C"/>
                </a:solidFill>
                <a:latin typeface="Impact"/>
              </a:defRPr>
            </a:pPr>
            <a:r>
              <a:t>KẾT QUẢ THỰC NGHIỆM &amp; CHẠY THỬ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188720"/>
            <a:ext cx="2011680" cy="54864"/>
          </a:xfrm>
          <a:prstGeom prst="rect">
            <a:avLst/>
          </a:prstGeom>
          <a:solidFill>
            <a:srgbClr val="1B55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4846320" cy="4389120"/>
          </a:xfrm>
          <a:prstGeom prst="roundRect">
            <a:avLst/>
          </a:prstGeom>
          <a:solidFill>
            <a:srgbClr val="1B55B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920240"/>
            <a:ext cx="42976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Console Output - Duyệt Cây</a:t>
            </a:r>
          </a:p>
          <a:p>
            <a:pPr>
              <a:spcAft>
                <a:spcPts val="1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&gt; Breadth first BSTree:</a:t>
            </a:r>
          </a:p>
          <a:p>
            <a:pPr>
              <a:spcAft>
                <a:spcPts val="800"/>
              </a:spcAft>
              <a:defRPr sz="950">
                <a:solidFill>
                  <a:srgbClr val="BFDBFE"/>
                </a:solidFill>
                <a:latin typeface="Consolas"/>
              </a:defRPr>
            </a:pPr>
            <a:r>
              <a:t>10 6 15 4 8 12 19 2 5 7 9 11 14 17 20 1 3 13 16 18 21 0 22</a:t>
            </a:r>
          </a:p>
          <a:p>
            <a:pPr>
              <a:spcAft>
                <a:spcPts val="1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&gt; PreOrder (NLR) BSTree:</a:t>
            </a:r>
          </a:p>
          <a:p>
            <a:pPr>
              <a:spcAft>
                <a:spcPts val="800"/>
              </a:spcAft>
              <a:defRPr sz="950">
                <a:solidFill>
                  <a:srgbClr val="BFDBFE"/>
                </a:solidFill>
                <a:latin typeface="Consolas"/>
              </a:defRPr>
            </a:pPr>
            <a:r>
              <a:t>10 6 4 2 1 0 3 5 8 7 9 15 12 11 14 13 19 17 16 18 20 21 22</a:t>
            </a:r>
          </a:p>
          <a:p>
            <a:pPr>
              <a:spcAft>
                <a:spcPts val="1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&gt; InOrder (LNR) BSTree:</a:t>
            </a:r>
          </a:p>
          <a:p>
            <a:pPr>
              <a:spcAft>
                <a:spcPts val="800"/>
              </a:spcAft>
              <a:defRPr sz="950">
                <a:solidFill>
                  <a:srgbClr val="BFDBFE"/>
                </a:solidFill>
                <a:latin typeface="Consolas"/>
              </a:defRPr>
            </a:pPr>
            <a:r>
              <a:t>0 1 2 3 4 5 6 7 8 9 10 11 12 13 14 15 16 17 18 19 20 21 22</a:t>
            </a:r>
          </a:p>
          <a:p>
            <a:pPr>
              <a:spcAft>
                <a:spcPts val="1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&gt; PostOrder (LRN) BSTree:</a:t>
            </a:r>
          </a:p>
          <a:p>
            <a:pPr>
              <a:spcAft>
                <a:spcPts val="800"/>
              </a:spcAft>
              <a:defRPr sz="950">
                <a:solidFill>
                  <a:srgbClr val="BFDBFE"/>
                </a:solidFill>
                <a:latin typeface="Consolas"/>
              </a:defRPr>
            </a:pPr>
            <a:r>
              <a:t>0 1 3 2 5 4 7 9 8 6 11 13 14 12 16 18 17 22 21 20 19 15 10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645920"/>
            <a:ext cx="4846320" cy="4389120"/>
          </a:xfrm>
          <a:prstGeom prst="roundRect">
            <a:avLst/>
          </a:prstGeom>
          <a:solidFill>
            <a:srgbClr val="1B55B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920240"/>
            <a:ext cx="42976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Xóa thử nghiệm Node 15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Thực hiện bstree.deleteByMerging(15):</a:t>
            </a:r>
          </a:p>
          <a:p>
            <a:pPr>
              <a:spcAft>
                <a:spcPts val="800"/>
              </a:spcAft>
              <a:defRPr sz="1250">
                <a:solidFill>
                  <a:srgbClr val="BFDBFE"/>
                </a:solidFill>
                <a:latin typeface="Segoe UI"/>
              </a:defRPr>
            </a:pPr>
            <a:r>
              <a:t>• Cây con trái của 15 có nút lớn nhất là 14.</a:t>
            </a:r>
          </a:p>
          <a:p>
            <a:pPr>
              <a:spcAft>
                <a:spcPts val="800"/>
              </a:spcAft>
              <a:defRPr sz="1250">
                <a:solidFill>
                  <a:srgbClr val="BFDBFE"/>
                </a:solidFill>
                <a:latin typeface="Segoe UI"/>
              </a:defRPr>
            </a:pPr>
            <a:r>
              <a:t>• Cây con phải của 15 (bắt đầu bằng 19) được di chuyển và gắn làm con bên phải của 14.</a:t>
            </a:r>
          </a:p>
          <a:p>
            <a:pPr>
              <a:spcAft>
                <a:spcPts val="800"/>
              </a:spcAft>
              <a:defRPr sz="1250">
                <a:solidFill>
                  <a:srgbClr val="BFDBFE"/>
                </a:solidFill>
                <a:latin typeface="Segoe UI"/>
              </a:defRPr>
            </a:pPr>
            <a:r>
              <a:t>• Node 15 được giải phóng, cha là 10 kết nối trực tiếp đến con trái cũ của 15 là 12.</a:t>
            </a:r>
          </a:p>
          <a:p>
            <a:pPr>
              <a:spcAft>
                <a:spcPts val="800"/>
              </a:spcAft>
              <a:defRPr sz="1250">
                <a:solidFill>
                  <a:srgbClr val="BFDBFE"/>
                </a:solidFill>
                <a:latin typeface="Segoe UI"/>
              </a:defRPr>
            </a:pPr>
            <a:r>
              <a:t>• Kết quả duyệt chiều rộng sau khi xóa node 15:</a:t>
            </a:r>
            <a:br/>
            <a:r>
              <a:t>10 6 12 4 8 11 14 2 5 7 9 13 19 1 3 17 20 0 16 18 21 22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