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731520" y="2011680"/>
            <a:ext cx="73152" cy="292608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41248" y="2560320"/>
            <a:ext cx="73152" cy="18288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920240"/>
            <a:ext cx="9875520" cy="3200400"/>
          </a:xfrm>
          <a:prstGeom prst="rect">
            <a:avLst/>
          </a:prstGeom>
          <a:noFill/>
        </p:spPr>
        <p:txBody>
          <a:bodyPr wrap="square" lIns="0" rIns="0" tIns="0" bIns="0">
            <a:spAutoFit/>
          </a:bodyPr>
          <a:lstStyle/>
          <a:p>
            <a:pPr>
              <a:spcAft>
                <a:spcPts val="800"/>
              </a:spcAft>
              <a:defRPr sz="1300" b="1">
                <a:solidFill>
                  <a:srgbClr val="06B6D4"/>
                </a:solidFill>
                <a:latin typeface="Segoe UI"/>
              </a:defRPr>
            </a:pPr>
            <a:r>
              <a:t>CẤU TRÚC DỮ LIỆU &amp; GIẢI THUẬT JAVA</a:t>
            </a:r>
          </a:p>
          <a:p>
            <a:pPr>
              <a:spcAft>
                <a:spcPts val="200"/>
              </a:spcAft>
              <a:defRPr sz="4600" b="1">
                <a:solidFill>
                  <a:srgbClr val="F1F5F9"/>
                </a:solidFill>
                <a:latin typeface="Segoe UI"/>
              </a:defRPr>
            </a:pPr>
            <a:r>
              <a:t>Cây Tìm Kiếm Nhị Phân</a:t>
            </a:r>
          </a:p>
          <a:p>
            <a:pPr>
              <a:spcAft>
                <a:spcPts val="1400"/>
              </a:spcAft>
              <a:defRPr sz="2800" b="1">
                <a:solidFill>
                  <a:srgbClr val="8B5CF6"/>
                </a:solidFill>
                <a:latin typeface="Segoe UI"/>
              </a:defRPr>
            </a:pPr>
            <a:r>
              <a:t>Binary Search Tree (BST)</a:t>
            </a:r>
          </a:p>
          <a:p>
            <a:pPr>
              <a:spcAft>
                <a:spcPts val="3200"/>
              </a:spcAft>
              <a:defRPr sz="1600">
                <a:solidFill>
                  <a:srgbClr val="94A3B8"/>
                </a:solidFill>
                <a:latin typeface="Segoe UI"/>
              </a:defRPr>
            </a:pPr>
            <a:r>
              <a:t>Phân tích các phép duyệt cây sâu &amp; Thuật toán xóa hợp nhất (Merging Deletion)</a:t>
            </a:r>
          </a:p>
          <a:p>
            <a:pPr>
              <a:defRPr sz="1200" i="1">
                <a:solidFill>
                  <a:srgbClr val="475569"/>
                </a:solidFill>
                <a:latin typeface="Segoe UI"/>
              </a:defRPr>
            </a:pPr>
            <a:r>
              <a:t>Thiết kế slide cao cấp tự động • NetBeans Projects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pPr>
              <a:defRPr sz="1000" b="1">
                <a:solidFill>
                  <a:srgbClr val="06B6D4"/>
                </a:solidFill>
                <a:latin typeface="Segoe UI"/>
              </a:defRPr>
            </a:pPr>
            <a:r>
              <a:t>BINARY SEARCH TREE</a:t>
            </a:r>
          </a:p>
        </p:txBody>
      </p:sp>
      <p:sp>
        <p:nvSpPr>
          <p:cNvPr id="3" name="TextBox 2"/>
          <p:cNvSpPr txBox="1"/>
          <p:nvPr/>
        </p:nvSpPr>
        <p:spPr>
          <a:xfrm>
            <a:off x="731520" y="548640"/>
            <a:ext cx="10698480" cy="731520"/>
          </a:xfrm>
          <a:prstGeom prst="rect">
            <a:avLst/>
          </a:prstGeom>
          <a:noFill/>
        </p:spPr>
        <p:txBody>
          <a:bodyPr wrap="square" lIns="0" rIns="0" tIns="0" bIns="0">
            <a:spAutoFit/>
          </a:bodyPr>
          <a:lstStyle/>
          <a:p>
            <a:pPr>
              <a:defRPr sz="2800" b="1">
                <a:solidFill>
                  <a:srgbClr val="F1F5F9"/>
                </a:solidFill>
                <a:latin typeface="Segoe UI"/>
              </a:defRPr>
            </a:pPr>
            <a:r>
              <a:t>Cơ Sở Dữ Liệu Của Cây BST</a:t>
            </a:r>
          </a:p>
        </p:txBody>
      </p:sp>
      <p:sp>
        <p:nvSpPr>
          <p:cNvPr id="4" name="Rounded Rectangle 3"/>
          <p:cNvSpPr/>
          <p:nvPr/>
        </p:nvSpPr>
        <p:spPr>
          <a:xfrm>
            <a:off x="731520" y="1645920"/>
            <a:ext cx="5120640" cy="4389120"/>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920240"/>
            <a:ext cx="4572000" cy="3840480"/>
          </a:xfrm>
          <a:prstGeom prst="rect">
            <a:avLst/>
          </a:prstGeom>
          <a:noFill/>
        </p:spPr>
        <p:txBody>
          <a:bodyPr wrap="square" lIns="0" rIns="0" tIns="0" bIns="0">
            <a:spAutoFit/>
          </a:bodyPr>
          <a:lstStyle/>
          <a:p>
            <a:pPr>
              <a:spcAft>
                <a:spcPts val="1500"/>
              </a:spcAft>
              <a:defRPr sz="2200" b="1">
                <a:solidFill>
                  <a:srgbClr val="06B6D4"/>
                </a:solidFill>
                <a:latin typeface="Segoe UI"/>
              </a:defRPr>
            </a:pPr>
            <a:r>
              <a:t>Lớp đại diện: Node</a:t>
            </a:r>
          </a:p>
          <a:p>
            <a:pPr>
              <a:spcAft>
                <a:spcPts val="1200"/>
              </a:spcAft>
              <a:defRPr sz="1400">
                <a:latin typeface="Segoe UI"/>
              </a:defRPr>
            </a:pPr>
            <a:r>
              <a:rPr b="1">
                <a:solidFill>
                  <a:srgbClr val="F1F5F9"/>
                </a:solidFill>
              </a:rPr>
              <a:t>• info: </a:t>
            </a:r>
            <a:r>
              <a:rPr>
                <a:solidFill>
                  <a:srgbClr val="94A3B8"/>
                </a:solidFill>
              </a:rPr>
              <a:t>Dữ liệu chính của nút, lưu số nguyên (int).</a:t>
            </a:r>
          </a:p>
          <a:p>
            <a:pPr>
              <a:spcAft>
                <a:spcPts val="1200"/>
              </a:spcAft>
              <a:defRPr sz="1400">
                <a:latin typeface="Segoe UI"/>
              </a:defRPr>
            </a:pPr>
            <a:r>
              <a:rPr b="1">
                <a:solidFill>
                  <a:srgbClr val="F1F5F9"/>
                </a:solidFill>
              </a:rPr>
              <a:t>• left: </a:t>
            </a:r>
            <a:r>
              <a:rPr>
                <a:solidFill>
                  <a:srgbClr val="94A3B8"/>
                </a:solidFill>
              </a:rPr>
              <a:t>Tham chiếu con trái. Tất cả các node thuộc cây con trái đều có giá trị nhỏ hơn cha.</a:t>
            </a:r>
          </a:p>
          <a:p>
            <a:pPr>
              <a:spcAft>
                <a:spcPts val="1200"/>
              </a:spcAft>
              <a:defRPr sz="1400">
                <a:latin typeface="Segoe UI"/>
              </a:defRPr>
            </a:pPr>
            <a:r>
              <a:rPr b="1">
                <a:solidFill>
                  <a:srgbClr val="F1F5F9"/>
                </a:solidFill>
              </a:rPr>
              <a:t>• right: </a:t>
            </a:r>
            <a:r>
              <a:rPr>
                <a:solidFill>
                  <a:srgbClr val="94A3B8"/>
                </a:solidFill>
              </a:rPr>
              <a:t>Tham chiếu con phải. Tất cả các node thuộc cây con phải đều có giá trị lớn hơn hoặc bằng cha.</a:t>
            </a:r>
          </a:p>
          <a:p>
            <a:pPr>
              <a:spcAft>
                <a:spcPts val="1200"/>
              </a:spcAft>
              <a:defRPr sz="1400">
                <a:latin typeface="Segoe UI"/>
              </a:defRPr>
            </a:pPr>
            <a:r>
              <a:rPr b="1">
                <a:solidFill>
                  <a:srgbClr val="F1F5F9"/>
                </a:solidFill>
              </a:rPr>
              <a:t>• Constructors: </a:t>
            </a:r>
            <a:r>
              <a:rPr>
                <a:solidFill>
                  <a:srgbClr val="94A3B8"/>
                </a:solidFill>
              </a:rPr>
              <a:t>Cung cấp 3 dạng khởi tạo linh hoạt (rỗng, chỉ có khóa, hoặc đầy đủ các liên kết).</a:t>
            </a:r>
          </a:p>
        </p:txBody>
      </p:sp>
      <p:sp>
        <p:nvSpPr>
          <p:cNvPr id="6" name="Rounded Rectangle 5"/>
          <p:cNvSpPr/>
          <p:nvPr/>
        </p:nvSpPr>
        <p:spPr>
          <a:xfrm>
            <a:off x="6309360" y="1645920"/>
            <a:ext cx="5120640" cy="4389120"/>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0" y="1920240"/>
            <a:ext cx="4572000" cy="3840480"/>
          </a:xfrm>
          <a:prstGeom prst="rect">
            <a:avLst/>
          </a:prstGeom>
          <a:noFill/>
        </p:spPr>
        <p:txBody>
          <a:bodyPr wrap="square" lIns="0" rIns="0" tIns="0" bIns="0">
            <a:spAutoFit/>
          </a:bodyPr>
          <a:lstStyle/>
          <a:p>
            <a:pPr>
              <a:spcAft>
                <a:spcPts val="1500"/>
              </a:spcAft>
              <a:defRPr sz="2200" b="1">
                <a:solidFill>
                  <a:srgbClr val="8B5CF6"/>
                </a:solidFill>
                <a:latin typeface="Segoe UI"/>
              </a:defRPr>
            </a:pPr>
            <a:r>
              <a:t>Lớp điều phối: MyBST</a:t>
            </a:r>
          </a:p>
          <a:p>
            <a:pPr>
              <a:spcAft>
                <a:spcPts val="1200"/>
              </a:spcAft>
              <a:defRPr sz="1400">
                <a:latin typeface="Segoe UI"/>
              </a:defRPr>
            </a:pPr>
            <a:r>
              <a:rPr b="1">
                <a:solidFill>
                  <a:srgbClr val="F1F5F9"/>
                </a:solidFill>
              </a:rPr>
              <a:t>• root: </a:t>
            </a:r>
            <a:r>
              <a:rPr>
                <a:solidFill>
                  <a:srgbClr val="94A3B8"/>
                </a:solidFill>
              </a:rPr>
              <a:t>Nút gốc quản lý toàn bộ điểm đầu vào của cây.</a:t>
            </a:r>
          </a:p>
          <a:p>
            <a:pPr>
              <a:spcAft>
                <a:spcPts val="1200"/>
              </a:spcAft>
              <a:defRPr sz="1400">
                <a:latin typeface="Segoe UI"/>
              </a:defRPr>
            </a:pPr>
            <a:r>
              <a:rPr b="1">
                <a:solidFill>
                  <a:srgbClr val="F1F5F9"/>
                </a:solidFill>
              </a:rPr>
              <a:t>• insert(int x): </a:t>
            </a:r>
            <a:r>
              <a:rPr>
                <a:solidFill>
                  <a:srgbClr val="94A3B8"/>
                </a:solidFill>
              </a:rPr>
              <a:t>Chèn khóa x vào cây. Tìm kiếm vị trí thích hợp từ root. Ngăn chặn chèn giá trị trùng lặp.</a:t>
            </a:r>
          </a:p>
          <a:p>
            <a:pPr>
              <a:spcAft>
                <a:spcPts val="1200"/>
              </a:spcAft>
              <a:defRPr sz="1400">
                <a:latin typeface="Segoe UI"/>
              </a:defRPr>
            </a:pPr>
            <a:r>
              <a:rPr b="1">
                <a:solidFill>
                  <a:srgbClr val="F1F5F9"/>
                </a:solidFill>
              </a:rPr>
              <a:t>• insertMany(int[] a): </a:t>
            </a:r>
            <a:r>
              <a:rPr>
                <a:solidFill>
                  <a:srgbClr val="94A3B8"/>
                </a:solidFill>
              </a:rPr>
              <a:t>Tiện ích chèn nhanh danh sách các số nguyên từ mảng vào cấu trúc cây.</a:t>
            </a:r>
          </a:p>
          <a:p>
            <a:pPr>
              <a:spcAft>
                <a:spcPts val="1200"/>
              </a:spcAft>
              <a:defRPr sz="1400">
                <a:latin typeface="Segoe UI"/>
              </a:defRPr>
            </a:pPr>
            <a:r>
              <a:rPr b="1">
                <a:solidFill>
                  <a:srgbClr val="F1F5F9"/>
                </a:solidFill>
              </a:rPr>
              <a:t>• visit(Node p): </a:t>
            </a:r>
            <a:r>
              <a:rPr>
                <a:solidFill>
                  <a:srgbClr val="94A3B8"/>
                </a:solidFill>
              </a:rPr>
              <a:t>In giá trị thông tin nút hiện tại ra màn hình console.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pPr>
              <a:defRPr sz="1000" b="1">
                <a:solidFill>
                  <a:srgbClr val="06B6D4"/>
                </a:solidFill>
                <a:latin typeface="Segoe UI"/>
              </a:defRPr>
            </a:pPr>
            <a:r>
              <a:t>BINARY SEARCH TREE</a:t>
            </a:r>
          </a:p>
        </p:txBody>
      </p:sp>
      <p:sp>
        <p:nvSpPr>
          <p:cNvPr id="3" name="TextBox 2"/>
          <p:cNvSpPr txBox="1"/>
          <p:nvPr/>
        </p:nvSpPr>
        <p:spPr>
          <a:xfrm>
            <a:off x="731520" y="548640"/>
            <a:ext cx="10698480" cy="731520"/>
          </a:xfrm>
          <a:prstGeom prst="rect">
            <a:avLst/>
          </a:prstGeom>
          <a:noFill/>
        </p:spPr>
        <p:txBody>
          <a:bodyPr wrap="square" lIns="0" rIns="0" tIns="0" bIns="0">
            <a:spAutoFit/>
          </a:bodyPr>
          <a:lstStyle/>
          <a:p>
            <a:pPr>
              <a:defRPr sz="2800" b="1">
                <a:solidFill>
                  <a:srgbClr val="F1F5F9"/>
                </a:solidFill>
                <a:latin typeface="Segoe UI"/>
              </a:defRPr>
            </a:pPr>
            <a:r>
              <a:t>Phép Duyệt Cây Theo Chiều Sâu (NLR, LNR, LRN)</a:t>
            </a:r>
          </a:p>
        </p:txBody>
      </p:sp>
      <p:sp>
        <p:nvSpPr>
          <p:cNvPr id="4" name="Rounded Rectangle 3"/>
          <p:cNvSpPr/>
          <p:nvPr/>
        </p:nvSpPr>
        <p:spPr>
          <a:xfrm>
            <a:off x="731520" y="1645920"/>
            <a:ext cx="3364992" cy="4389120"/>
          </a:xfrm>
          <a:prstGeom prst="roundRect">
            <a:avLst/>
          </a:prstGeom>
          <a:solidFill>
            <a:srgbClr val="1E293B"/>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74520"/>
            <a:ext cx="2907792" cy="3931920"/>
          </a:xfrm>
          <a:prstGeom prst="rect">
            <a:avLst/>
          </a:prstGeom>
          <a:noFill/>
        </p:spPr>
        <p:txBody>
          <a:bodyPr wrap="square" lIns="0" rIns="0" tIns="0" bIns="0">
            <a:spAutoFit/>
          </a:bodyPr>
          <a:lstStyle/>
          <a:p>
            <a:pPr>
              <a:spcAft>
                <a:spcPts val="400"/>
              </a:spcAft>
              <a:defRPr sz="2000" b="1">
                <a:solidFill>
                  <a:srgbClr val="06B6D4"/>
                </a:solidFill>
                <a:latin typeface="Segoe UI"/>
              </a:defRPr>
            </a:pPr>
            <a:r>
              <a:t>PreOrder (NLR)</a:t>
            </a:r>
          </a:p>
          <a:p>
            <a:pPr>
              <a:spcAft>
                <a:spcPts val="1200"/>
              </a:spcAft>
              <a:defRPr sz="1300" i="1">
                <a:solidFill>
                  <a:srgbClr val="94A3B8"/>
                </a:solidFill>
                <a:latin typeface="Segoe UI"/>
              </a:defRPr>
            </a:pPr>
            <a:r>
              <a:t>Duyệt Tiền Thứ Tự</a:t>
            </a:r>
          </a:p>
          <a:p>
            <a:pPr>
              <a:spcAft>
                <a:spcPts val="1800"/>
              </a:spcAft>
              <a:defRPr sz="1200">
                <a:solidFill>
                  <a:srgbClr val="F1F5F9"/>
                </a:solidFill>
                <a:latin typeface="Segoe UI"/>
              </a:defRPr>
            </a:pPr>
            <a:r>
              <a:t>1. Thăm nút hiện tại</a:t>
            </a:r>
            <a:br/>
            <a:r>
              <a:t>2. Đệ quy cây con trái</a:t>
            </a:r>
            <a:br/>
            <a:r>
              <a:t>3. Đệ quy cây con phải</a:t>
            </a:r>
          </a:p>
          <a:p>
            <a:pPr>
              <a:spcBef>
                <a:spcPts val="500"/>
              </a:spcBef>
              <a:spcAft>
                <a:spcPts val="0"/>
              </a:spcAft>
              <a:defRPr sz="1050">
                <a:latin typeface="Consolas"/>
              </a:defRPr>
            </a:pPr>
            <a:r>
              <a:rPr b="1">
                <a:solidFill>
                  <a:srgbClr val="F43F5E"/>
                </a:solidFill>
              </a:rPr>
              <a:t>public </a:t>
            </a:r>
            <a:r>
              <a:rPr b="1">
                <a:solidFill>
                  <a:srgbClr val="F43F5E"/>
                </a:solidFill>
              </a:rPr>
              <a:t>void </a:t>
            </a:r>
            <a:r>
              <a:rPr>
                <a:solidFill>
                  <a:srgbClr val="F1F5F9"/>
                </a:solidFill>
              </a:rPr>
              <a:t>preOrder(Node </a:t>
            </a:r>
            <a:r>
              <a:rPr>
                <a:solidFill>
                  <a:srgbClr val="F1F5F9"/>
                </a:solidFill>
              </a:rPr>
              <a:t>p) </a:t>
            </a:r>
            <a:r>
              <a:rPr>
                <a:solidFill>
                  <a:srgbClr val="F1F5F9"/>
                </a:solidFill>
              </a:rPr>
              <a:t>{ </a:t>
            </a:r>
          </a:p>
          <a:p>
            <a:pPr>
              <a:spcAft>
                <a:spcPts val="0"/>
              </a:spcAft>
              <a:defRPr sz="1050">
                <a:latin typeface="Consolas"/>
              </a:defRPr>
            </a:pPr>
            <a:r>
              <a:rPr>
                <a:solidFill>
                  <a:srgbClr val="F1F5F9"/>
                </a:solidFill>
              </a:rPr>
              <a:t> </a:t>
            </a:r>
            <a:r>
              <a:rPr>
                <a:solidFill>
                  <a:srgbClr val="F1F5F9"/>
                </a:solidFill>
              </a:rPr>
              <a:t> </a:t>
            </a:r>
            <a:r>
              <a:rPr b="1">
                <a:solidFill>
                  <a:srgbClr val="F43F5E"/>
                </a:solidFill>
              </a:rPr>
              <a:t>if </a:t>
            </a:r>
            <a:r>
              <a:rPr>
                <a:solidFill>
                  <a:srgbClr val="F1F5F9"/>
                </a:solidFill>
              </a:rPr>
              <a:t>(p </a:t>
            </a:r>
            <a:r>
              <a:rPr>
                <a:solidFill>
                  <a:srgbClr val="F1F5F9"/>
                </a:solidFill>
              </a:rPr>
              <a:t>== </a:t>
            </a:r>
            <a:r>
              <a:rPr>
                <a:solidFill>
                  <a:srgbClr val="F1F5F9"/>
                </a:solidFill>
              </a:rPr>
              <a:t>null) </a:t>
            </a:r>
            <a:r>
              <a:rPr>
                <a:solidFill>
                  <a:srgbClr val="F1F5F9"/>
                </a:solidFill>
              </a:rPr>
              <a:t>return; </a:t>
            </a:r>
          </a:p>
          <a:p>
            <a:pPr>
              <a:spcAft>
                <a:spcPts val="0"/>
              </a:spcAft>
              <a:defRPr sz="1050">
                <a:latin typeface="Consolas"/>
              </a:defRPr>
            </a:pPr>
            <a:r>
              <a:rPr>
                <a:solidFill>
                  <a:srgbClr val="F1F5F9"/>
                </a:solidFill>
              </a:rPr>
              <a:t> </a:t>
            </a:r>
            <a:r>
              <a:rPr>
                <a:solidFill>
                  <a:srgbClr val="F1F5F9"/>
                </a:solidFill>
              </a:rPr>
              <a:t> </a:t>
            </a:r>
            <a:r>
              <a:rPr>
                <a:solidFill>
                  <a:srgbClr val="F1F5F9"/>
                </a:solidFill>
              </a:rPr>
              <a:t>visit(p); </a:t>
            </a:r>
          </a:p>
          <a:p>
            <a:pPr>
              <a:spcAft>
                <a:spcPts val="0"/>
              </a:spcAft>
              <a:defRPr sz="1050">
                <a:latin typeface="Consolas"/>
              </a:defRPr>
            </a:pPr>
            <a:r>
              <a:rPr>
                <a:solidFill>
                  <a:srgbClr val="F1F5F9"/>
                </a:solidFill>
              </a:rPr>
              <a:t> </a:t>
            </a:r>
            <a:r>
              <a:rPr>
                <a:solidFill>
                  <a:srgbClr val="F1F5F9"/>
                </a:solidFill>
              </a:rPr>
              <a:t> </a:t>
            </a:r>
            <a:r>
              <a:rPr>
                <a:solidFill>
                  <a:srgbClr val="F1F5F9"/>
                </a:solidFill>
              </a:rPr>
              <a:t>preOrder(p.left); </a:t>
            </a:r>
          </a:p>
          <a:p>
            <a:pPr>
              <a:spcAft>
                <a:spcPts val="0"/>
              </a:spcAft>
              <a:defRPr sz="1050">
                <a:latin typeface="Consolas"/>
              </a:defRPr>
            </a:pPr>
            <a:r>
              <a:rPr>
                <a:solidFill>
                  <a:srgbClr val="F1F5F9"/>
                </a:solidFill>
              </a:rPr>
              <a:t> </a:t>
            </a:r>
            <a:r>
              <a:rPr>
                <a:solidFill>
                  <a:srgbClr val="F1F5F9"/>
                </a:solidFill>
              </a:rPr>
              <a:t> </a:t>
            </a:r>
            <a:r>
              <a:rPr>
                <a:solidFill>
                  <a:srgbClr val="F1F5F9"/>
                </a:solidFill>
              </a:rPr>
              <a:t>preOrder(p.right); </a:t>
            </a:r>
          </a:p>
          <a:p>
            <a:pPr>
              <a:spcAft>
                <a:spcPts val="0"/>
              </a:spcAft>
              <a:defRPr sz="1050">
                <a:latin typeface="Consolas"/>
              </a:defRPr>
            </a:pPr>
            <a:r>
              <a:rPr>
                <a:solidFill>
                  <a:srgbClr val="F1F5F9"/>
                </a:solidFill>
              </a:rPr>
              <a:t>} </a:t>
            </a:r>
          </a:p>
        </p:txBody>
      </p:sp>
      <p:sp>
        <p:nvSpPr>
          <p:cNvPr id="6" name="Rounded Rectangle 5"/>
          <p:cNvSpPr/>
          <p:nvPr/>
        </p:nvSpPr>
        <p:spPr>
          <a:xfrm>
            <a:off x="4370832" y="1645920"/>
            <a:ext cx="3364992" cy="4389120"/>
          </a:xfrm>
          <a:prstGeom prst="roundRect">
            <a:avLst/>
          </a:prstGeom>
          <a:solidFill>
            <a:srgbClr val="1E293B"/>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99432" y="1874520"/>
            <a:ext cx="2907792" cy="3931920"/>
          </a:xfrm>
          <a:prstGeom prst="rect">
            <a:avLst/>
          </a:prstGeom>
          <a:noFill/>
        </p:spPr>
        <p:txBody>
          <a:bodyPr wrap="square" lIns="0" rIns="0" tIns="0" bIns="0">
            <a:spAutoFit/>
          </a:bodyPr>
          <a:lstStyle/>
          <a:p>
            <a:pPr>
              <a:spcAft>
                <a:spcPts val="400"/>
              </a:spcAft>
              <a:defRPr sz="2000" b="1">
                <a:solidFill>
                  <a:srgbClr val="8B5CF6"/>
                </a:solidFill>
                <a:latin typeface="Segoe UI"/>
              </a:defRPr>
            </a:pPr>
            <a:r>
              <a:t>InOrder (LNR)</a:t>
            </a:r>
          </a:p>
          <a:p>
            <a:pPr>
              <a:spcAft>
                <a:spcPts val="1200"/>
              </a:spcAft>
              <a:defRPr sz="1300" i="1">
                <a:solidFill>
                  <a:srgbClr val="94A3B8"/>
                </a:solidFill>
                <a:latin typeface="Segoe UI"/>
              </a:defRPr>
            </a:pPr>
            <a:r>
              <a:t>Duyệt Trung Thứ Tự</a:t>
            </a:r>
          </a:p>
          <a:p>
            <a:pPr>
              <a:spcAft>
                <a:spcPts val="1800"/>
              </a:spcAft>
              <a:defRPr sz="1200">
                <a:solidFill>
                  <a:srgbClr val="F1F5F9"/>
                </a:solidFill>
                <a:latin typeface="Segoe UI"/>
              </a:defRPr>
            </a:pPr>
            <a:r>
              <a:t>1. Đệ quy cây con trái</a:t>
            </a:r>
            <a:br/>
            <a:r>
              <a:t>2. Thăm nút hiện tại</a:t>
            </a:r>
            <a:br/>
            <a:r>
              <a:t>3. Đệ quy cây con phải</a:t>
            </a:r>
            <a:br/>
            <a:br/>
            <a:r>
              <a:t>* Kết quả in ra tăng dần</a:t>
            </a:r>
          </a:p>
          <a:p>
            <a:pPr>
              <a:spcBef>
                <a:spcPts val="500"/>
              </a:spcBef>
              <a:spcAft>
                <a:spcPts val="0"/>
              </a:spcAft>
              <a:defRPr sz="1050">
                <a:latin typeface="Consolas"/>
              </a:defRPr>
            </a:pPr>
            <a:r>
              <a:rPr b="1">
                <a:solidFill>
                  <a:srgbClr val="F43F5E"/>
                </a:solidFill>
              </a:rPr>
              <a:t>public </a:t>
            </a:r>
            <a:r>
              <a:rPr b="1">
                <a:solidFill>
                  <a:srgbClr val="F43F5E"/>
                </a:solidFill>
              </a:rPr>
              <a:t>void </a:t>
            </a:r>
            <a:r>
              <a:rPr>
                <a:solidFill>
                  <a:srgbClr val="F1F5F9"/>
                </a:solidFill>
              </a:rPr>
              <a:t>inOrder(Node </a:t>
            </a:r>
            <a:r>
              <a:rPr>
                <a:solidFill>
                  <a:srgbClr val="F1F5F9"/>
                </a:solidFill>
              </a:rPr>
              <a:t>p) </a:t>
            </a:r>
            <a:r>
              <a:rPr>
                <a:solidFill>
                  <a:srgbClr val="F1F5F9"/>
                </a:solidFill>
              </a:rPr>
              <a:t>{ </a:t>
            </a:r>
          </a:p>
          <a:p>
            <a:pPr>
              <a:spcAft>
                <a:spcPts val="0"/>
              </a:spcAft>
              <a:defRPr sz="1050">
                <a:latin typeface="Consolas"/>
              </a:defRPr>
            </a:pPr>
            <a:r>
              <a:rPr>
                <a:solidFill>
                  <a:srgbClr val="F1F5F9"/>
                </a:solidFill>
              </a:rPr>
              <a:t> </a:t>
            </a:r>
            <a:r>
              <a:rPr>
                <a:solidFill>
                  <a:srgbClr val="F1F5F9"/>
                </a:solidFill>
              </a:rPr>
              <a:t> </a:t>
            </a:r>
            <a:r>
              <a:rPr b="1">
                <a:solidFill>
                  <a:srgbClr val="F43F5E"/>
                </a:solidFill>
              </a:rPr>
              <a:t>if </a:t>
            </a:r>
            <a:r>
              <a:rPr>
                <a:solidFill>
                  <a:srgbClr val="F1F5F9"/>
                </a:solidFill>
              </a:rPr>
              <a:t>(p </a:t>
            </a:r>
            <a:r>
              <a:rPr>
                <a:solidFill>
                  <a:srgbClr val="F1F5F9"/>
                </a:solidFill>
              </a:rPr>
              <a:t>== </a:t>
            </a:r>
            <a:r>
              <a:rPr>
                <a:solidFill>
                  <a:srgbClr val="F1F5F9"/>
                </a:solidFill>
              </a:rPr>
              <a:t>null) </a:t>
            </a:r>
            <a:r>
              <a:rPr>
                <a:solidFill>
                  <a:srgbClr val="F1F5F9"/>
                </a:solidFill>
              </a:rPr>
              <a:t>return; </a:t>
            </a:r>
          </a:p>
          <a:p>
            <a:pPr>
              <a:spcAft>
                <a:spcPts val="0"/>
              </a:spcAft>
              <a:defRPr sz="1050">
                <a:latin typeface="Consolas"/>
              </a:defRPr>
            </a:pPr>
            <a:r>
              <a:rPr>
                <a:solidFill>
                  <a:srgbClr val="F1F5F9"/>
                </a:solidFill>
              </a:rPr>
              <a:t> </a:t>
            </a:r>
            <a:r>
              <a:rPr>
                <a:solidFill>
                  <a:srgbClr val="F1F5F9"/>
                </a:solidFill>
              </a:rPr>
              <a:t> </a:t>
            </a:r>
            <a:r>
              <a:rPr>
                <a:solidFill>
                  <a:srgbClr val="F1F5F9"/>
                </a:solidFill>
              </a:rPr>
              <a:t>inOrder(p.left); </a:t>
            </a:r>
          </a:p>
          <a:p>
            <a:pPr>
              <a:spcAft>
                <a:spcPts val="0"/>
              </a:spcAft>
              <a:defRPr sz="1050">
                <a:latin typeface="Consolas"/>
              </a:defRPr>
            </a:pPr>
            <a:r>
              <a:rPr>
                <a:solidFill>
                  <a:srgbClr val="F1F5F9"/>
                </a:solidFill>
              </a:rPr>
              <a:t> </a:t>
            </a:r>
            <a:r>
              <a:rPr>
                <a:solidFill>
                  <a:srgbClr val="F1F5F9"/>
                </a:solidFill>
              </a:rPr>
              <a:t> </a:t>
            </a:r>
            <a:r>
              <a:rPr>
                <a:solidFill>
                  <a:srgbClr val="F1F5F9"/>
                </a:solidFill>
              </a:rPr>
              <a:t>visit(p); </a:t>
            </a:r>
          </a:p>
          <a:p>
            <a:pPr>
              <a:spcAft>
                <a:spcPts val="0"/>
              </a:spcAft>
              <a:defRPr sz="1050">
                <a:latin typeface="Consolas"/>
              </a:defRPr>
            </a:pPr>
            <a:r>
              <a:rPr>
                <a:solidFill>
                  <a:srgbClr val="F1F5F9"/>
                </a:solidFill>
              </a:rPr>
              <a:t> </a:t>
            </a:r>
            <a:r>
              <a:rPr>
                <a:solidFill>
                  <a:srgbClr val="F1F5F9"/>
                </a:solidFill>
              </a:rPr>
              <a:t> </a:t>
            </a:r>
            <a:r>
              <a:rPr>
                <a:solidFill>
                  <a:srgbClr val="F1F5F9"/>
                </a:solidFill>
              </a:rPr>
              <a:t>inOrder(p.right); </a:t>
            </a:r>
          </a:p>
          <a:p>
            <a:pPr>
              <a:spcAft>
                <a:spcPts val="0"/>
              </a:spcAft>
              <a:defRPr sz="1050">
                <a:latin typeface="Consolas"/>
              </a:defRPr>
            </a:pPr>
            <a:r>
              <a:rPr>
                <a:solidFill>
                  <a:srgbClr val="F1F5F9"/>
                </a:solidFill>
              </a:rPr>
              <a:t>} </a:t>
            </a:r>
          </a:p>
        </p:txBody>
      </p:sp>
      <p:sp>
        <p:nvSpPr>
          <p:cNvPr id="8" name="Rounded Rectangle 7"/>
          <p:cNvSpPr/>
          <p:nvPr/>
        </p:nvSpPr>
        <p:spPr>
          <a:xfrm>
            <a:off x="8010144" y="1645920"/>
            <a:ext cx="3364992" cy="4389120"/>
          </a:xfrm>
          <a:prstGeom prst="roundRect">
            <a:avLst/>
          </a:prstGeom>
          <a:solidFill>
            <a:srgbClr val="1E293B"/>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38744" y="1874520"/>
            <a:ext cx="2907792" cy="3931920"/>
          </a:xfrm>
          <a:prstGeom prst="rect">
            <a:avLst/>
          </a:prstGeom>
          <a:noFill/>
        </p:spPr>
        <p:txBody>
          <a:bodyPr wrap="square" lIns="0" rIns="0" tIns="0" bIns="0">
            <a:spAutoFit/>
          </a:bodyPr>
          <a:lstStyle/>
          <a:p>
            <a:pPr>
              <a:spcAft>
                <a:spcPts val="400"/>
              </a:spcAft>
              <a:defRPr sz="2000" b="1">
                <a:solidFill>
                  <a:srgbClr val="06B6D4"/>
                </a:solidFill>
                <a:latin typeface="Segoe UI"/>
              </a:defRPr>
            </a:pPr>
            <a:r>
              <a:t>PostOrder (LRN)</a:t>
            </a:r>
          </a:p>
          <a:p>
            <a:pPr>
              <a:spcAft>
                <a:spcPts val="1200"/>
              </a:spcAft>
              <a:defRPr sz="1300" i="1">
                <a:solidFill>
                  <a:srgbClr val="94A3B8"/>
                </a:solidFill>
                <a:latin typeface="Segoe UI"/>
              </a:defRPr>
            </a:pPr>
            <a:r>
              <a:t>Duyệt Hậu Thứ Tự</a:t>
            </a:r>
          </a:p>
          <a:p>
            <a:pPr>
              <a:spcAft>
                <a:spcPts val="1800"/>
              </a:spcAft>
              <a:defRPr sz="1200">
                <a:solidFill>
                  <a:srgbClr val="F1F5F9"/>
                </a:solidFill>
                <a:latin typeface="Segoe UI"/>
              </a:defRPr>
            </a:pPr>
            <a:r>
              <a:t>1. Đệ quy cây con trái</a:t>
            </a:r>
            <a:br/>
            <a:r>
              <a:t>2. Đệ quy cây con phải</a:t>
            </a:r>
            <a:br/>
            <a:r>
              <a:t>3. Thăm nút hiện tại</a:t>
            </a:r>
          </a:p>
          <a:p>
            <a:pPr>
              <a:spcBef>
                <a:spcPts val="500"/>
              </a:spcBef>
              <a:spcAft>
                <a:spcPts val="0"/>
              </a:spcAft>
              <a:defRPr sz="1050">
                <a:latin typeface="Consolas"/>
              </a:defRPr>
            </a:pPr>
            <a:r>
              <a:rPr b="1">
                <a:solidFill>
                  <a:srgbClr val="F43F5E"/>
                </a:solidFill>
              </a:rPr>
              <a:t>public </a:t>
            </a:r>
            <a:r>
              <a:rPr b="1">
                <a:solidFill>
                  <a:srgbClr val="F43F5E"/>
                </a:solidFill>
              </a:rPr>
              <a:t>void </a:t>
            </a:r>
            <a:r>
              <a:rPr>
                <a:solidFill>
                  <a:srgbClr val="F1F5F9"/>
                </a:solidFill>
              </a:rPr>
              <a:t>postOrder(Node </a:t>
            </a:r>
            <a:r>
              <a:rPr>
                <a:solidFill>
                  <a:srgbClr val="F1F5F9"/>
                </a:solidFill>
              </a:rPr>
              <a:t>p) </a:t>
            </a:r>
            <a:r>
              <a:rPr>
                <a:solidFill>
                  <a:srgbClr val="F1F5F9"/>
                </a:solidFill>
              </a:rPr>
              <a:t>{ </a:t>
            </a:r>
          </a:p>
          <a:p>
            <a:pPr>
              <a:spcAft>
                <a:spcPts val="0"/>
              </a:spcAft>
              <a:defRPr sz="1050">
                <a:latin typeface="Consolas"/>
              </a:defRPr>
            </a:pPr>
            <a:r>
              <a:rPr>
                <a:solidFill>
                  <a:srgbClr val="F1F5F9"/>
                </a:solidFill>
              </a:rPr>
              <a:t> </a:t>
            </a:r>
            <a:r>
              <a:rPr>
                <a:solidFill>
                  <a:srgbClr val="F1F5F9"/>
                </a:solidFill>
              </a:rPr>
              <a:t> </a:t>
            </a:r>
            <a:r>
              <a:rPr b="1">
                <a:solidFill>
                  <a:srgbClr val="F43F5E"/>
                </a:solidFill>
              </a:rPr>
              <a:t>if </a:t>
            </a:r>
            <a:r>
              <a:rPr>
                <a:solidFill>
                  <a:srgbClr val="F1F5F9"/>
                </a:solidFill>
              </a:rPr>
              <a:t>(p </a:t>
            </a:r>
            <a:r>
              <a:rPr>
                <a:solidFill>
                  <a:srgbClr val="F1F5F9"/>
                </a:solidFill>
              </a:rPr>
              <a:t>== </a:t>
            </a:r>
            <a:r>
              <a:rPr>
                <a:solidFill>
                  <a:srgbClr val="F1F5F9"/>
                </a:solidFill>
              </a:rPr>
              <a:t>null) </a:t>
            </a:r>
            <a:r>
              <a:rPr>
                <a:solidFill>
                  <a:srgbClr val="F1F5F9"/>
                </a:solidFill>
              </a:rPr>
              <a:t>return; </a:t>
            </a:r>
          </a:p>
          <a:p>
            <a:pPr>
              <a:spcAft>
                <a:spcPts val="0"/>
              </a:spcAft>
              <a:defRPr sz="1050">
                <a:latin typeface="Consolas"/>
              </a:defRPr>
            </a:pPr>
            <a:r>
              <a:rPr>
                <a:solidFill>
                  <a:srgbClr val="F1F5F9"/>
                </a:solidFill>
              </a:rPr>
              <a:t> </a:t>
            </a:r>
            <a:r>
              <a:rPr>
                <a:solidFill>
                  <a:srgbClr val="F1F5F9"/>
                </a:solidFill>
              </a:rPr>
              <a:t> </a:t>
            </a:r>
            <a:r>
              <a:rPr>
                <a:solidFill>
                  <a:srgbClr val="F1F5F9"/>
                </a:solidFill>
              </a:rPr>
              <a:t>postOrder(p.left); </a:t>
            </a:r>
          </a:p>
          <a:p>
            <a:pPr>
              <a:spcAft>
                <a:spcPts val="0"/>
              </a:spcAft>
              <a:defRPr sz="1050">
                <a:latin typeface="Consolas"/>
              </a:defRPr>
            </a:pPr>
            <a:r>
              <a:rPr>
                <a:solidFill>
                  <a:srgbClr val="F1F5F9"/>
                </a:solidFill>
              </a:rPr>
              <a:t> </a:t>
            </a:r>
            <a:r>
              <a:rPr>
                <a:solidFill>
                  <a:srgbClr val="F1F5F9"/>
                </a:solidFill>
              </a:rPr>
              <a:t> </a:t>
            </a:r>
            <a:r>
              <a:rPr>
                <a:solidFill>
                  <a:srgbClr val="F1F5F9"/>
                </a:solidFill>
              </a:rPr>
              <a:t>postOrder(p.right); </a:t>
            </a:r>
          </a:p>
          <a:p>
            <a:pPr>
              <a:spcAft>
                <a:spcPts val="0"/>
              </a:spcAft>
              <a:defRPr sz="1050">
                <a:latin typeface="Consolas"/>
              </a:defRPr>
            </a:pPr>
            <a:r>
              <a:rPr>
                <a:solidFill>
                  <a:srgbClr val="F1F5F9"/>
                </a:solidFill>
              </a:rPr>
              <a:t> </a:t>
            </a:r>
            <a:r>
              <a:rPr>
                <a:solidFill>
                  <a:srgbClr val="F1F5F9"/>
                </a:solidFill>
              </a:rPr>
              <a:t> </a:t>
            </a:r>
            <a:r>
              <a:rPr>
                <a:solidFill>
                  <a:srgbClr val="F1F5F9"/>
                </a:solidFill>
              </a:rPr>
              <a:t>visit(p); </a:t>
            </a:r>
          </a:p>
          <a:p>
            <a:pPr>
              <a:spcAft>
                <a:spcPts val="0"/>
              </a:spcAft>
              <a:defRPr sz="1050">
                <a:latin typeface="Consolas"/>
              </a:defRPr>
            </a:pPr>
            <a:r>
              <a:rPr>
                <a:solidFill>
                  <a:srgbClr val="F1F5F9"/>
                </a:solidFill>
              </a:rPr>
              <a:t>}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pPr>
              <a:defRPr sz="1000" b="1">
                <a:solidFill>
                  <a:srgbClr val="06B6D4"/>
                </a:solidFill>
                <a:latin typeface="Segoe UI"/>
              </a:defRPr>
            </a:pPr>
            <a:r>
              <a:t>BINARY SEARCH TREE</a:t>
            </a:r>
          </a:p>
        </p:txBody>
      </p:sp>
      <p:sp>
        <p:nvSpPr>
          <p:cNvPr id="3" name="TextBox 2"/>
          <p:cNvSpPr txBox="1"/>
          <p:nvPr/>
        </p:nvSpPr>
        <p:spPr>
          <a:xfrm>
            <a:off x="731520" y="548640"/>
            <a:ext cx="10698480" cy="731520"/>
          </a:xfrm>
          <a:prstGeom prst="rect">
            <a:avLst/>
          </a:prstGeom>
          <a:noFill/>
        </p:spPr>
        <p:txBody>
          <a:bodyPr wrap="square" lIns="0" rIns="0" tIns="0" bIns="0">
            <a:spAutoFit/>
          </a:bodyPr>
          <a:lstStyle/>
          <a:p>
            <a:pPr>
              <a:defRPr sz="2800" b="1">
                <a:solidFill>
                  <a:srgbClr val="F1F5F9"/>
                </a:solidFill>
                <a:latin typeface="Segoe UI"/>
              </a:defRPr>
            </a:pPr>
            <a:r>
              <a:t>Xóa Bằng Cách Hợp Nhất (Delete By Merging)</a:t>
            </a:r>
          </a:p>
        </p:txBody>
      </p:sp>
      <p:sp>
        <p:nvSpPr>
          <p:cNvPr id="4" name="Rounded Rectangle 3"/>
          <p:cNvSpPr/>
          <p:nvPr/>
        </p:nvSpPr>
        <p:spPr>
          <a:xfrm>
            <a:off x="731520" y="1645920"/>
            <a:ext cx="5120640" cy="4389120"/>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920240"/>
            <a:ext cx="4572000" cy="3840480"/>
          </a:xfrm>
          <a:prstGeom prst="rect">
            <a:avLst/>
          </a:prstGeom>
          <a:noFill/>
        </p:spPr>
        <p:txBody>
          <a:bodyPr wrap="square" lIns="0" rIns="0" tIns="0" bIns="0">
            <a:spAutoFit/>
          </a:bodyPr>
          <a:lstStyle/>
          <a:p>
            <a:pPr>
              <a:spcAft>
                <a:spcPts val="1500"/>
              </a:spcAft>
              <a:defRPr sz="2200" b="1">
                <a:solidFill>
                  <a:srgbClr val="06B6D4"/>
                </a:solidFill>
                <a:latin typeface="Segoe UI"/>
              </a:defRPr>
            </a:pPr>
            <a:r>
              <a:t>Nguyên lý giải thuật</a:t>
            </a:r>
          </a:p>
          <a:p>
            <a:pPr>
              <a:spcAft>
                <a:spcPts val="1000"/>
              </a:spcAft>
              <a:defRPr sz="1350">
                <a:solidFill>
                  <a:srgbClr val="94A3B8"/>
                </a:solidFill>
                <a:latin typeface="Segoe UI"/>
              </a:defRPr>
            </a:pPr>
            <a:r>
              <a:t>• Mục tiêu: Loại bỏ node có khóa x ra khỏi BST.</a:t>
            </a:r>
          </a:p>
          <a:p>
            <a:pPr>
              <a:spcAft>
                <a:spcPts val="1000"/>
              </a:spcAft>
              <a:defRPr sz="1350">
                <a:solidFill>
                  <a:srgbClr val="94A3B8"/>
                </a:solidFill>
                <a:latin typeface="Segoe UI"/>
              </a:defRPr>
            </a:pPr>
            <a:r>
              <a:t>• Ý tưởng: Khi node xóa có cả 2 con, ta đưa toàn bộ cây con bên phải ghép vào vị trí cực phải của cây con bên trái.</a:t>
            </a:r>
          </a:p>
          <a:p>
            <a:pPr>
              <a:spcAft>
                <a:spcPts val="1000"/>
              </a:spcAft>
              <a:defRPr sz="1350">
                <a:solidFill>
                  <a:srgbClr val="94A3B8"/>
                </a:solidFill>
                <a:latin typeface="Segoe UI"/>
              </a:defRPr>
            </a:pPr>
            <a:r>
              <a:t>• Bảo toàn tính chất BST: Mọi nút trên cây con phải của X đều lớn hơn mọi nút trên cây con trái của X, do đó vị trí cực phải cây con trái (giá trị lớn nhất bên trái) là vị trí duy nhất thích hợp để làm cha của cây con phải cũ.</a:t>
            </a:r>
          </a:p>
          <a:p>
            <a:pPr>
              <a:spcAft>
                <a:spcPts val="1000"/>
              </a:spcAft>
              <a:defRPr sz="1350">
                <a:solidFill>
                  <a:srgbClr val="94A3B8"/>
                </a:solidFill>
                <a:latin typeface="Segoe UI"/>
              </a:defRPr>
            </a:pPr>
            <a:r>
              <a:t>• Kế thừa liên kết: Node cha của node bị xóa sẽ trỏ thẳng tới con trái của node bị xóa.</a:t>
            </a:r>
          </a:p>
        </p:txBody>
      </p:sp>
      <p:sp>
        <p:nvSpPr>
          <p:cNvPr id="6" name="Rounded Rectangle 5"/>
          <p:cNvSpPr/>
          <p:nvPr/>
        </p:nvSpPr>
        <p:spPr>
          <a:xfrm>
            <a:off x="6309360" y="1645920"/>
            <a:ext cx="5120640" cy="4389120"/>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0" y="1920240"/>
            <a:ext cx="4572000" cy="3840480"/>
          </a:xfrm>
          <a:prstGeom prst="rect">
            <a:avLst/>
          </a:prstGeom>
          <a:noFill/>
        </p:spPr>
        <p:txBody>
          <a:bodyPr wrap="square" lIns="0" rIns="0" tIns="0" bIns="0">
            <a:spAutoFit/>
          </a:bodyPr>
          <a:lstStyle/>
          <a:p>
            <a:pPr>
              <a:spcAft>
                <a:spcPts val="1200"/>
              </a:spcAft>
              <a:defRPr sz="2200" b="1">
                <a:solidFill>
                  <a:srgbClr val="8B5CF6"/>
                </a:solidFill>
                <a:latin typeface="Segoe UI"/>
              </a:defRPr>
            </a:pPr>
            <a:r>
              <a:t>Bước 1: Định vị Node cần xóa</a:t>
            </a:r>
          </a:p>
          <a:p>
            <a:pPr>
              <a:spcAft>
                <a:spcPts val="1500"/>
              </a:spcAft>
              <a:defRPr sz="1300">
                <a:solidFill>
                  <a:srgbClr val="F1F5F9"/>
                </a:solidFill>
                <a:latin typeface="Segoe UI"/>
              </a:defRPr>
            </a:pPr>
            <a:r>
              <a:t>Tìm kiếm node có khóa x và giữ lại vết node cha:</a:t>
            </a:r>
          </a:p>
          <a:p>
            <a:pPr>
              <a:spcAft>
                <a:spcPts val="100"/>
              </a:spcAft>
              <a:defRPr sz="1100">
                <a:latin typeface="Consolas"/>
              </a:defRPr>
            </a:pPr>
            <a:r>
              <a:rPr>
                <a:solidFill>
                  <a:srgbClr val="22D3EE"/>
                </a:solidFill>
              </a:rPr>
              <a:t>Node </a:t>
            </a:r>
            <a:r>
              <a:rPr>
                <a:solidFill>
                  <a:srgbClr val="F1F5F9"/>
                </a:solidFill>
              </a:rPr>
              <a:t>deleteNode </a:t>
            </a:r>
            <a:r>
              <a:rPr>
                <a:solidFill>
                  <a:srgbClr val="F1F5F9"/>
                </a:solidFill>
              </a:rPr>
              <a:t>= </a:t>
            </a:r>
            <a:r>
              <a:rPr>
                <a:solidFill>
                  <a:srgbClr val="F1F5F9"/>
                </a:solidFill>
              </a:rPr>
              <a:t>root; </a:t>
            </a:r>
          </a:p>
          <a:p>
            <a:pPr>
              <a:spcAft>
                <a:spcPts val="100"/>
              </a:spcAft>
              <a:defRPr sz="1100">
                <a:latin typeface="Consolas"/>
              </a:defRPr>
            </a:pPr>
            <a:r>
              <a:rPr>
                <a:solidFill>
                  <a:srgbClr val="22D3EE"/>
                </a:solidFill>
              </a:rPr>
              <a:t>Node </a:t>
            </a:r>
            <a:r>
              <a:rPr>
                <a:solidFill>
                  <a:srgbClr val="F1F5F9"/>
                </a:solidFill>
              </a:rPr>
              <a:t>parentOfDeleteNode </a:t>
            </a:r>
            <a:r>
              <a:rPr>
                <a:solidFill>
                  <a:srgbClr val="F1F5F9"/>
                </a:solidFill>
              </a:rPr>
              <a:t>= </a:t>
            </a:r>
            <a:r>
              <a:rPr>
                <a:solidFill>
                  <a:srgbClr val="F1F5F9"/>
                </a:solidFill>
              </a:rPr>
              <a:t>null; </a:t>
            </a:r>
          </a:p>
          <a:p>
            <a:pPr>
              <a:spcAft>
                <a:spcPts val="100"/>
              </a:spcAft>
              <a:defRPr sz="1100">
                <a:latin typeface="Consolas"/>
              </a:defRPr>
            </a:pPr>
            <a:r>
              <a:rPr b="1">
                <a:solidFill>
                  <a:srgbClr val="F43F5E"/>
                </a:solidFill>
              </a:rPr>
              <a:t>while </a:t>
            </a:r>
            <a:r>
              <a:rPr>
                <a:solidFill>
                  <a:srgbClr val="F1F5F9"/>
                </a:solidFill>
              </a:rPr>
              <a:t>(deleteNode </a:t>
            </a:r>
            <a:r>
              <a:rPr>
                <a:solidFill>
                  <a:srgbClr val="F1F5F9"/>
                </a:solidFill>
              </a:rPr>
              <a:t>!= </a:t>
            </a:r>
            <a:r>
              <a:rPr>
                <a:solidFill>
                  <a:srgbClr val="F1F5F9"/>
                </a:solidFill>
              </a:rPr>
              <a:t>null) </a:t>
            </a:r>
            <a:r>
              <a:rPr>
                <a:solidFill>
                  <a:srgbClr val="F1F5F9"/>
                </a:solidFill>
              </a:rPr>
              <a:t>{ </a:t>
            </a:r>
          </a:p>
          <a:p>
            <a:pPr>
              <a:spcAft>
                <a:spcPts val="100"/>
              </a:spcAft>
              <a:defRPr sz="1100">
                <a:latin typeface="Consolas"/>
              </a:defRPr>
            </a:pPr>
            <a:r>
              <a:rPr>
                <a:solidFill>
                  <a:srgbClr val="F1F5F9"/>
                </a:solidFill>
              </a:rPr>
              <a:t> </a:t>
            </a:r>
            <a:r>
              <a:rPr>
                <a:solidFill>
                  <a:srgbClr val="F1F5F9"/>
                </a:solidFill>
              </a:rPr>
              <a:t> </a:t>
            </a:r>
            <a:r>
              <a:rPr>
                <a:solidFill>
                  <a:srgbClr val="F1F5F9"/>
                </a:solidFill>
              </a:rPr>
              <a:t> </a:t>
            </a:r>
            <a:r>
              <a:rPr>
                <a:solidFill>
                  <a:srgbClr val="F1F5F9"/>
                </a:solidFill>
              </a:rPr>
              <a:t> </a:t>
            </a:r>
            <a:r>
              <a:rPr b="1">
                <a:solidFill>
                  <a:srgbClr val="F43F5E"/>
                </a:solidFill>
              </a:rPr>
              <a:t>if </a:t>
            </a:r>
            <a:r>
              <a:rPr>
                <a:solidFill>
                  <a:srgbClr val="F1F5F9"/>
                </a:solidFill>
              </a:rPr>
              <a:t>(deleteNode.info </a:t>
            </a:r>
            <a:r>
              <a:rPr>
                <a:solidFill>
                  <a:srgbClr val="F1F5F9"/>
                </a:solidFill>
              </a:rPr>
              <a:t>== </a:t>
            </a:r>
            <a:r>
              <a:rPr>
                <a:solidFill>
                  <a:srgbClr val="F1F5F9"/>
                </a:solidFill>
              </a:rPr>
              <a:t>x) </a:t>
            </a:r>
            <a:r>
              <a:rPr>
                <a:solidFill>
                  <a:srgbClr val="F1F5F9"/>
                </a:solidFill>
              </a:rPr>
              <a:t>break; </a:t>
            </a:r>
          </a:p>
          <a:p>
            <a:pPr>
              <a:spcAft>
                <a:spcPts val="100"/>
              </a:spcAft>
              <a:defRPr sz="1100">
                <a:latin typeface="Consolas"/>
              </a:defRPr>
            </a:pPr>
            <a:r>
              <a:rPr>
                <a:solidFill>
                  <a:srgbClr val="F1F5F9"/>
                </a:solidFill>
              </a:rPr>
              <a:t> </a:t>
            </a:r>
            <a:r>
              <a:rPr>
                <a:solidFill>
                  <a:srgbClr val="F1F5F9"/>
                </a:solidFill>
              </a:rPr>
              <a:t> </a:t>
            </a:r>
            <a:r>
              <a:rPr>
                <a:solidFill>
                  <a:srgbClr val="F1F5F9"/>
                </a:solidFill>
              </a:rPr>
              <a:t> </a:t>
            </a:r>
            <a:r>
              <a:rPr>
                <a:solidFill>
                  <a:srgbClr val="F1F5F9"/>
                </a:solidFill>
              </a:rPr>
              <a:t> </a:t>
            </a:r>
            <a:r>
              <a:rPr>
                <a:solidFill>
                  <a:srgbClr val="F1F5F9"/>
                </a:solidFill>
              </a:rPr>
              <a:t>parentOfDeleteNode </a:t>
            </a:r>
            <a:r>
              <a:rPr>
                <a:solidFill>
                  <a:srgbClr val="F1F5F9"/>
                </a:solidFill>
              </a:rPr>
              <a:t>= </a:t>
            </a:r>
            <a:r>
              <a:rPr>
                <a:solidFill>
                  <a:srgbClr val="F1F5F9"/>
                </a:solidFill>
              </a:rPr>
              <a:t>deleteNode; </a:t>
            </a:r>
          </a:p>
          <a:p>
            <a:pPr>
              <a:spcAft>
                <a:spcPts val="100"/>
              </a:spcAft>
              <a:defRPr sz="1100">
                <a:latin typeface="Consolas"/>
              </a:defRPr>
            </a:pPr>
            <a:r>
              <a:rPr>
                <a:solidFill>
                  <a:srgbClr val="F1F5F9"/>
                </a:solidFill>
              </a:rPr>
              <a:t> </a:t>
            </a:r>
            <a:r>
              <a:rPr>
                <a:solidFill>
                  <a:srgbClr val="F1F5F9"/>
                </a:solidFill>
              </a:rPr>
              <a:t> </a:t>
            </a:r>
            <a:r>
              <a:rPr>
                <a:solidFill>
                  <a:srgbClr val="F1F5F9"/>
                </a:solidFill>
              </a:rPr>
              <a:t> </a:t>
            </a:r>
            <a:r>
              <a:rPr>
                <a:solidFill>
                  <a:srgbClr val="F1F5F9"/>
                </a:solidFill>
              </a:rPr>
              <a:t> </a:t>
            </a:r>
            <a:r>
              <a:rPr b="1">
                <a:solidFill>
                  <a:srgbClr val="F43F5E"/>
                </a:solidFill>
              </a:rPr>
              <a:t>if </a:t>
            </a:r>
            <a:r>
              <a:rPr>
                <a:solidFill>
                  <a:srgbClr val="F1F5F9"/>
                </a:solidFill>
              </a:rPr>
              <a:t>(x </a:t>
            </a:r>
            <a:r>
              <a:rPr>
                <a:solidFill>
                  <a:srgbClr val="F1F5F9"/>
                </a:solidFill>
              </a:rPr>
              <a:t>&lt; </a:t>
            </a:r>
            <a:r>
              <a:rPr>
                <a:solidFill>
                  <a:srgbClr val="F1F5F9"/>
                </a:solidFill>
              </a:rPr>
              <a:t>deleteNode.info) </a:t>
            </a:r>
          </a:p>
          <a:p>
            <a:pPr>
              <a:spcAft>
                <a:spcPts val="100"/>
              </a:spcAft>
              <a:defRPr sz="1100">
                <a:latin typeface="Consolas"/>
              </a:defRPr>
            </a:pPr>
            <a:r>
              <a:rPr>
                <a:solidFill>
                  <a:srgbClr val="F1F5F9"/>
                </a:solidFill>
              </a:rPr>
              <a:t> </a:t>
            </a:r>
            <a:r>
              <a:rPr>
                <a:solidFill>
                  <a:srgbClr val="F1F5F9"/>
                </a:solidFill>
              </a:rPr>
              <a:t> </a:t>
            </a:r>
            <a:r>
              <a:rPr>
                <a:solidFill>
                  <a:srgbClr val="F1F5F9"/>
                </a:solidFill>
              </a:rPr>
              <a:t> </a:t>
            </a:r>
            <a:r>
              <a:rPr>
                <a:solidFill>
                  <a:srgbClr val="F1F5F9"/>
                </a:solidFill>
              </a:rPr>
              <a:t> </a:t>
            </a:r>
            <a:r>
              <a:rPr>
                <a:solidFill>
                  <a:srgbClr val="F1F5F9"/>
                </a:solidFill>
              </a:rPr>
              <a:t> </a:t>
            </a:r>
            <a:r>
              <a:rPr>
                <a:solidFill>
                  <a:srgbClr val="F1F5F9"/>
                </a:solidFill>
              </a:rPr>
              <a:t> </a:t>
            </a:r>
            <a:r>
              <a:rPr>
                <a:solidFill>
                  <a:srgbClr val="F1F5F9"/>
                </a:solidFill>
              </a:rPr>
              <a:t> </a:t>
            </a:r>
            <a:r>
              <a:rPr>
                <a:solidFill>
                  <a:srgbClr val="F1F5F9"/>
                </a:solidFill>
              </a:rPr>
              <a:t> </a:t>
            </a:r>
            <a:r>
              <a:rPr>
                <a:solidFill>
                  <a:srgbClr val="F1F5F9"/>
                </a:solidFill>
              </a:rPr>
              <a:t>deleteNode </a:t>
            </a:r>
            <a:r>
              <a:rPr>
                <a:solidFill>
                  <a:srgbClr val="F1F5F9"/>
                </a:solidFill>
              </a:rPr>
              <a:t>= </a:t>
            </a:r>
            <a:r>
              <a:rPr>
                <a:solidFill>
                  <a:srgbClr val="F1F5F9"/>
                </a:solidFill>
              </a:rPr>
              <a:t>deleteNode.left; </a:t>
            </a:r>
          </a:p>
          <a:p>
            <a:pPr>
              <a:spcAft>
                <a:spcPts val="100"/>
              </a:spcAft>
              <a:defRPr sz="1100">
                <a:latin typeface="Consolas"/>
              </a:defRPr>
            </a:pPr>
            <a:r>
              <a:rPr>
                <a:solidFill>
                  <a:srgbClr val="F1F5F9"/>
                </a:solidFill>
              </a:rPr>
              <a:t> </a:t>
            </a:r>
            <a:r>
              <a:rPr>
                <a:solidFill>
                  <a:srgbClr val="F1F5F9"/>
                </a:solidFill>
              </a:rPr>
              <a:t> </a:t>
            </a:r>
            <a:r>
              <a:rPr>
                <a:solidFill>
                  <a:srgbClr val="F1F5F9"/>
                </a:solidFill>
              </a:rPr>
              <a:t> </a:t>
            </a:r>
            <a:r>
              <a:rPr>
                <a:solidFill>
                  <a:srgbClr val="F1F5F9"/>
                </a:solidFill>
              </a:rPr>
              <a:t> </a:t>
            </a:r>
            <a:r>
              <a:rPr b="1">
                <a:solidFill>
                  <a:srgbClr val="F43F5E"/>
                </a:solidFill>
              </a:rPr>
              <a:t>else </a:t>
            </a:r>
          </a:p>
          <a:p>
            <a:pPr>
              <a:spcAft>
                <a:spcPts val="100"/>
              </a:spcAft>
              <a:defRPr sz="1100">
                <a:latin typeface="Consolas"/>
              </a:defRPr>
            </a:pPr>
            <a:r>
              <a:rPr>
                <a:solidFill>
                  <a:srgbClr val="F1F5F9"/>
                </a:solidFill>
              </a:rPr>
              <a:t> </a:t>
            </a:r>
            <a:r>
              <a:rPr>
                <a:solidFill>
                  <a:srgbClr val="F1F5F9"/>
                </a:solidFill>
              </a:rPr>
              <a:t> </a:t>
            </a:r>
            <a:r>
              <a:rPr>
                <a:solidFill>
                  <a:srgbClr val="F1F5F9"/>
                </a:solidFill>
              </a:rPr>
              <a:t> </a:t>
            </a:r>
            <a:r>
              <a:rPr>
                <a:solidFill>
                  <a:srgbClr val="F1F5F9"/>
                </a:solidFill>
              </a:rPr>
              <a:t> </a:t>
            </a:r>
            <a:r>
              <a:rPr>
                <a:solidFill>
                  <a:srgbClr val="F1F5F9"/>
                </a:solidFill>
              </a:rPr>
              <a:t> </a:t>
            </a:r>
            <a:r>
              <a:rPr>
                <a:solidFill>
                  <a:srgbClr val="F1F5F9"/>
                </a:solidFill>
              </a:rPr>
              <a:t> </a:t>
            </a:r>
            <a:r>
              <a:rPr>
                <a:solidFill>
                  <a:srgbClr val="F1F5F9"/>
                </a:solidFill>
              </a:rPr>
              <a:t> </a:t>
            </a:r>
            <a:r>
              <a:rPr>
                <a:solidFill>
                  <a:srgbClr val="F1F5F9"/>
                </a:solidFill>
              </a:rPr>
              <a:t> </a:t>
            </a:r>
            <a:r>
              <a:rPr>
                <a:solidFill>
                  <a:srgbClr val="F1F5F9"/>
                </a:solidFill>
              </a:rPr>
              <a:t>deleteNode </a:t>
            </a:r>
            <a:r>
              <a:rPr>
                <a:solidFill>
                  <a:srgbClr val="F1F5F9"/>
                </a:solidFill>
              </a:rPr>
              <a:t>= </a:t>
            </a:r>
            <a:r>
              <a:rPr>
                <a:solidFill>
                  <a:srgbClr val="F1F5F9"/>
                </a:solidFill>
              </a:rPr>
              <a:t>deleteNode.right; </a:t>
            </a:r>
          </a:p>
          <a:p>
            <a:pPr>
              <a:spcAft>
                <a:spcPts val="100"/>
              </a:spcAft>
              <a:defRPr sz="1100">
                <a:latin typeface="Consolas"/>
              </a:defRPr>
            </a:pPr>
            <a:r>
              <a:rPr>
                <a:solidFill>
                  <a:srgbClr val="F1F5F9"/>
                </a:solidFill>
              </a:rPr>
              <a: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pPr>
              <a:defRPr sz="1000" b="1">
                <a:solidFill>
                  <a:srgbClr val="06B6D4"/>
                </a:solidFill>
                <a:latin typeface="Segoe UI"/>
              </a:defRPr>
            </a:pPr>
            <a:r>
              <a:t>BINARY SEARCH TREE</a:t>
            </a:r>
          </a:p>
        </p:txBody>
      </p:sp>
      <p:sp>
        <p:nvSpPr>
          <p:cNvPr id="3" name="TextBox 2"/>
          <p:cNvSpPr txBox="1"/>
          <p:nvPr/>
        </p:nvSpPr>
        <p:spPr>
          <a:xfrm>
            <a:off x="731520" y="548640"/>
            <a:ext cx="10698480" cy="731520"/>
          </a:xfrm>
          <a:prstGeom prst="rect">
            <a:avLst/>
          </a:prstGeom>
          <a:noFill/>
        </p:spPr>
        <p:txBody>
          <a:bodyPr wrap="square" lIns="0" rIns="0" tIns="0" bIns="0">
            <a:spAutoFit/>
          </a:bodyPr>
          <a:lstStyle/>
          <a:p>
            <a:pPr>
              <a:defRPr sz="2800" b="1">
                <a:solidFill>
                  <a:srgbClr val="F1F5F9"/>
                </a:solidFill>
                <a:latin typeface="Segoe UI"/>
              </a:defRPr>
            </a:pPr>
            <a:r>
              <a:t>Các Trường Hợp Xóa Đơn Giản</a:t>
            </a:r>
          </a:p>
        </p:txBody>
      </p:sp>
      <p:sp>
        <p:nvSpPr>
          <p:cNvPr id="4" name="Rounded Rectangle 3"/>
          <p:cNvSpPr/>
          <p:nvPr/>
        </p:nvSpPr>
        <p:spPr>
          <a:xfrm>
            <a:off x="731520" y="1645920"/>
            <a:ext cx="3364992" cy="4389120"/>
          </a:xfrm>
          <a:prstGeom prst="roundRect">
            <a:avLst/>
          </a:prstGeom>
          <a:solidFill>
            <a:srgbClr val="1E293B"/>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74520"/>
            <a:ext cx="2907792" cy="3931920"/>
          </a:xfrm>
          <a:prstGeom prst="rect">
            <a:avLst/>
          </a:prstGeom>
          <a:noFill/>
        </p:spPr>
        <p:txBody>
          <a:bodyPr wrap="square" lIns="0" rIns="0" tIns="0" bIns="0">
            <a:spAutoFit/>
          </a:bodyPr>
          <a:lstStyle/>
          <a:p>
            <a:pPr>
              <a:spcAft>
                <a:spcPts val="400"/>
              </a:spcAft>
              <a:defRPr sz="1800" b="1">
                <a:solidFill>
                  <a:srgbClr val="06B6D4"/>
                </a:solidFill>
                <a:latin typeface="Segoe UI"/>
              </a:defRPr>
            </a:pPr>
            <a:r>
              <a:t>Case 1: Node Lá</a:t>
            </a:r>
          </a:p>
          <a:p>
            <a:pPr>
              <a:spcAft>
                <a:spcPts val="1000"/>
              </a:spcAft>
              <a:defRPr sz="1200" i="1">
                <a:solidFill>
                  <a:srgbClr val="94A3B8"/>
                </a:solidFill>
                <a:latin typeface="Segoe UI"/>
              </a:defRPr>
            </a:pPr>
            <a:r>
              <a:t>Node cần xóa không có con trái và phải.</a:t>
            </a:r>
          </a:p>
          <a:p>
            <a:pPr>
              <a:spcAft>
                <a:spcPts val="1500"/>
              </a:spcAft>
              <a:defRPr sz="1150">
                <a:solidFill>
                  <a:srgbClr val="F1F5F9"/>
                </a:solidFill>
                <a:latin typeface="Segoe UI"/>
              </a:defRPr>
            </a:pPr>
            <a:r>
              <a:t>Nếu deleteNode là gốc (root) -&gt; gán root = null.</a:t>
            </a:r>
            <a:br/>
            <a:br/>
            <a:r>
              <a:t>Ngược lại, gán nhánh tương ứng của cha về null.</a:t>
            </a:r>
          </a:p>
          <a:p>
            <a:pPr>
              <a:spcAft>
                <a:spcPts val="0"/>
              </a:spcAft>
              <a:defRPr sz="1000">
                <a:latin typeface="Consolas"/>
              </a:defRPr>
            </a:pPr>
            <a:r>
              <a:rPr>
                <a:solidFill>
                  <a:srgbClr val="F43F5E"/>
                </a:solidFill>
              </a:rPr>
              <a:t>if </a:t>
            </a:r>
            <a:r>
              <a:rPr>
                <a:solidFill>
                  <a:srgbClr val="F1F5F9"/>
                </a:solidFill>
              </a:rPr>
              <a:t>(parent </a:t>
            </a:r>
            <a:r>
              <a:rPr>
                <a:solidFill>
                  <a:srgbClr val="F1F5F9"/>
                </a:solidFill>
              </a:rPr>
              <a:t>== </a:t>
            </a:r>
            <a:r>
              <a:rPr>
                <a:solidFill>
                  <a:srgbClr val="F1F5F9"/>
                </a:solidFill>
              </a:rPr>
              <a:t>null) </a:t>
            </a:r>
            <a:r>
              <a:rPr>
                <a:solidFill>
                  <a:srgbClr val="22D3EE"/>
                </a:solidFill>
              </a:rPr>
              <a:t>root </a:t>
            </a:r>
            <a:r>
              <a:rPr>
                <a:solidFill>
                  <a:srgbClr val="F1F5F9"/>
                </a:solidFill>
              </a:rPr>
              <a:t>= </a:t>
            </a:r>
            <a:r>
              <a:rPr>
                <a:solidFill>
                  <a:srgbClr val="F1F5F9"/>
                </a:solidFill>
              </a:rPr>
              <a:t>null; </a:t>
            </a:r>
          </a:p>
          <a:p>
            <a:pPr>
              <a:spcAft>
                <a:spcPts val="0"/>
              </a:spcAft>
              <a:defRPr sz="1000">
                <a:latin typeface="Consolas"/>
              </a:defRPr>
            </a:pPr>
            <a:r>
              <a:rPr>
                <a:solidFill>
                  <a:srgbClr val="F43F5E"/>
                </a:solidFill>
              </a:rPr>
              <a:t>else </a:t>
            </a:r>
            <a:r>
              <a:rPr>
                <a:solidFill>
                  <a:srgbClr val="F43F5E"/>
                </a:solidFill>
              </a:rPr>
              <a:t>if </a:t>
            </a:r>
            <a:r>
              <a:rPr>
                <a:solidFill>
                  <a:srgbClr val="F1F5F9"/>
                </a:solidFill>
              </a:rPr>
              <a:t>(parent.left </a:t>
            </a:r>
            <a:r>
              <a:rPr>
                <a:solidFill>
                  <a:srgbClr val="F1F5F9"/>
                </a:solidFill>
              </a:rPr>
              <a:t>== </a:t>
            </a:r>
            <a:r>
              <a:rPr>
                <a:solidFill>
                  <a:srgbClr val="F1F5F9"/>
                </a:solidFill>
              </a:rPr>
              <a:t>delete) </a:t>
            </a:r>
          </a:p>
          <a:p>
            <a:pPr>
              <a:spcAft>
                <a:spcPts val="0"/>
              </a:spcAft>
              <a:defRPr sz="1000">
                <a:latin typeface="Consolas"/>
              </a:defRPr>
            </a:pPr>
            <a:r>
              <a:rPr>
                <a:solidFill>
                  <a:srgbClr val="F1F5F9"/>
                </a:solidFill>
              </a:rPr>
              <a:t> </a:t>
            </a:r>
            <a:r>
              <a:rPr>
                <a:solidFill>
                  <a:srgbClr val="F1F5F9"/>
                </a:solidFill>
              </a:rPr>
              <a:t> </a:t>
            </a:r>
            <a:r>
              <a:rPr>
                <a:solidFill>
                  <a:srgbClr val="F1F5F9"/>
                </a:solidFill>
              </a:rPr>
              <a:t> </a:t>
            </a:r>
            <a:r>
              <a:rPr>
                <a:solidFill>
                  <a:srgbClr val="F1F5F9"/>
                </a:solidFill>
              </a:rPr>
              <a:t> </a:t>
            </a:r>
            <a:r>
              <a:rPr>
                <a:solidFill>
                  <a:srgbClr val="F1F5F9"/>
                </a:solidFill>
              </a:rPr>
              <a:t>parent.left </a:t>
            </a:r>
            <a:r>
              <a:rPr>
                <a:solidFill>
                  <a:srgbClr val="F1F5F9"/>
                </a:solidFill>
              </a:rPr>
              <a:t>= </a:t>
            </a:r>
            <a:r>
              <a:rPr>
                <a:solidFill>
                  <a:srgbClr val="F1F5F9"/>
                </a:solidFill>
              </a:rPr>
              <a:t>null; </a:t>
            </a:r>
          </a:p>
          <a:p>
            <a:pPr>
              <a:spcAft>
                <a:spcPts val="0"/>
              </a:spcAft>
              <a:defRPr sz="1000">
                <a:latin typeface="Consolas"/>
              </a:defRPr>
            </a:pPr>
            <a:r>
              <a:rPr>
                <a:solidFill>
                  <a:srgbClr val="F43F5E"/>
                </a:solidFill>
              </a:rPr>
              <a:t>else </a:t>
            </a:r>
            <a:r>
              <a:rPr>
                <a:solidFill>
                  <a:srgbClr val="F1F5F9"/>
                </a:solidFill>
              </a:rPr>
              <a:t>parent.right </a:t>
            </a:r>
            <a:r>
              <a:rPr>
                <a:solidFill>
                  <a:srgbClr val="F1F5F9"/>
                </a:solidFill>
              </a:rPr>
              <a:t>= </a:t>
            </a:r>
            <a:r>
              <a:rPr>
                <a:solidFill>
                  <a:srgbClr val="F1F5F9"/>
                </a:solidFill>
              </a:rPr>
              <a:t>null; </a:t>
            </a:r>
          </a:p>
        </p:txBody>
      </p:sp>
      <p:sp>
        <p:nvSpPr>
          <p:cNvPr id="6" name="Rounded Rectangle 5"/>
          <p:cNvSpPr/>
          <p:nvPr/>
        </p:nvSpPr>
        <p:spPr>
          <a:xfrm>
            <a:off x="4370832" y="1645920"/>
            <a:ext cx="3364992" cy="4389120"/>
          </a:xfrm>
          <a:prstGeom prst="roundRect">
            <a:avLst/>
          </a:prstGeom>
          <a:solidFill>
            <a:srgbClr val="1E293B"/>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99432" y="1874520"/>
            <a:ext cx="2907792" cy="3931920"/>
          </a:xfrm>
          <a:prstGeom prst="rect">
            <a:avLst/>
          </a:prstGeom>
          <a:noFill/>
        </p:spPr>
        <p:txBody>
          <a:bodyPr wrap="square" lIns="0" rIns="0" tIns="0" bIns="0">
            <a:spAutoFit/>
          </a:bodyPr>
          <a:lstStyle/>
          <a:p>
            <a:pPr>
              <a:spcAft>
                <a:spcPts val="400"/>
              </a:spcAft>
              <a:defRPr sz="1800" b="1">
                <a:solidFill>
                  <a:srgbClr val="8B5CF6"/>
                </a:solidFill>
                <a:latin typeface="Segoe UI"/>
              </a:defRPr>
            </a:pPr>
            <a:r>
              <a:t>Case 2: Chỉ Có Con Trái</a:t>
            </a:r>
          </a:p>
          <a:p>
            <a:pPr>
              <a:spcAft>
                <a:spcPts val="1000"/>
              </a:spcAft>
              <a:defRPr sz="1200" i="1">
                <a:solidFill>
                  <a:srgbClr val="94A3B8"/>
                </a:solidFill>
                <a:latin typeface="Segoe UI"/>
              </a:defRPr>
            </a:pPr>
            <a:r>
              <a:t>Node cần xóa có con trái nhưng không có con phải.</a:t>
            </a:r>
          </a:p>
          <a:p>
            <a:pPr>
              <a:spcAft>
                <a:spcPts val="1500"/>
              </a:spcAft>
              <a:defRPr sz="1150">
                <a:solidFill>
                  <a:srgbClr val="F1F5F9"/>
                </a:solidFill>
                <a:latin typeface="Segoe UI"/>
              </a:defRPr>
            </a:pPr>
            <a:r>
              <a:t>Nếu deleteNode là gốc (root) -&gt; root = con trái.</a:t>
            </a:r>
            <a:br/>
            <a:br/>
            <a:r>
              <a:t>Ngược lại, nút cha liên kết thẳng tới con trái của node xóa.</a:t>
            </a:r>
          </a:p>
          <a:p>
            <a:pPr>
              <a:spcAft>
                <a:spcPts val="0"/>
              </a:spcAft>
              <a:defRPr sz="1000">
                <a:latin typeface="Consolas"/>
              </a:defRPr>
            </a:pPr>
            <a:r>
              <a:rPr>
                <a:solidFill>
                  <a:srgbClr val="F43F5E"/>
                </a:solidFill>
              </a:rPr>
              <a:t>if </a:t>
            </a:r>
            <a:r>
              <a:rPr>
                <a:solidFill>
                  <a:srgbClr val="F1F5F9"/>
                </a:solidFill>
              </a:rPr>
              <a:t>(parent </a:t>
            </a:r>
            <a:r>
              <a:rPr>
                <a:solidFill>
                  <a:srgbClr val="F1F5F9"/>
                </a:solidFill>
              </a:rPr>
              <a:t>== </a:t>
            </a:r>
            <a:r>
              <a:rPr>
                <a:solidFill>
                  <a:srgbClr val="F1F5F9"/>
                </a:solidFill>
              </a:rPr>
              <a:t>null) </a:t>
            </a:r>
            <a:r>
              <a:rPr>
                <a:solidFill>
                  <a:srgbClr val="22D3EE"/>
                </a:solidFill>
              </a:rPr>
              <a:t>root </a:t>
            </a:r>
            <a:r>
              <a:rPr>
                <a:solidFill>
                  <a:srgbClr val="F1F5F9"/>
                </a:solidFill>
              </a:rPr>
              <a:t>= </a:t>
            </a:r>
            <a:r>
              <a:rPr>
                <a:solidFill>
                  <a:srgbClr val="F1F5F9"/>
                </a:solidFill>
              </a:rPr>
              <a:t>delete.left; </a:t>
            </a:r>
          </a:p>
          <a:p>
            <a:pPr>
              <a:spcAft>
                <a:spcPts val="0"/>
              </a:spcAft>
              <a:defRPr sz="1000">
                <a:latin typeface="Consolas"/>
              </a:defRPr>
            </a:pPr>
            <a:r>
              <a:rPr>
                <a:solidFill>
                  <a:srgbClr val="F43F5E"/>
                </a:solidFill>
              </a:rPr>
              <a:t>else </a:t>
            </a:r>
            <a:r>
              <a:rPr>
                <a:solidFill>
                  <a:srgbClr val="F43F5E"/>
                </a:solidFill>
              </a:rPr>
              <a:t>if </a:t>
            </a:r>
            <a:r>
              <a:rPr>
                <a:solidFill>
                  <a:srgbClr val="F1F5F9"/>
                </a:solidFill>
              </a:rPr>
              <a:t>(parent.left </a:t>
            </a:r>
            <a:r>
              <a:rPr>
                <a:solidFill>
                  <a:srgbClr val="F1F5F9"/>
                </a:solidFill>
              </a:rPr>
              <a:t>== </a:t>
            </a:r>
            <a:r>
              <a:rPr>
                <a:solidFill>
                  <a:srgbClr val="F1F5F9"/>
                </a:solidFill>
              </a:rPr>
              <a:t>delete) </a:t>
            </a:r>
          </a:p>
          <a:p>
            <a:pPr>
              <a:spcAft>
                <a:spcPts val="0"/>
              </a:spcAft>
              <a:defRPr sz="1000">
                <a:latin typeface="Consolas"/>
              </a:defRPr>
            </a:pPr>
            <a:r>
              <a:rPr>
                <a:solidFill>
                  <a:srgbClr val="F1F5F9"/>
                </a:solidFill>
              </a:rPr>
              <a:t> </a:t>
            </a:r>
            <a:r>
              <a:rPr>
                <a:solidFill>
                  <a:srgbClr val="F1F5F9"/>
                </a:solidFill>
              </a:rPr>
              <a:t> </a:t>
            </a:r>
            <a:r>
              <a:rPr>
                <a:solidFill>
                  <a:srgbClr val="F1F5F9"/>
                </a:solidFill>
              </a:rPr>
              <a:t> </a:t>
            </a:r>
            <a:r>
              <a:rPr>
                <a:solidFill>
                  <a:srgbClr val="F1F5F9"/>
                </a:solidFill>
              </a:rPr>
              <a:t> </a:t>
            </a:r>
            <a:r>
              <a:rPr>
                <a:solidFill>
                  <a:srgbClr val="F1F5F9"/>
                </a:solidFill>
              </a:rPr>
              <a:t>parent.left </a:t>
            </a:r>
            <a:r>
              <a:rPr>
                <a:solidFill>
                  <a:srgbClr val="F1F5F9"/>
                </a:solidFill>
              </a:rPr>
              <a:t>= </a:t>
            </a:r>
            <a:r>
              <a:rPr>
                <a:solidFill>
                  <a:srgbClr val="F1F5F9"/>
                </a:solidFill>
              </a:rPr>
              <a:t>delete.left; </a:t>
            </a:r>
          </a:p>
          <a:p>
            <a:pPr>
              <a:spcAft>
                <a:spcPts val="0"/>
              </a:spcAft>
              <a:defRPr sz="1000">
                <a:latin typeface="Consolas"/>
              </a:defRPr>
            </a:pPr>
            <a:r>
              <a:rPr>
                <a:solidFill>
                  <a:srgbClr val="F43F5E"/>
                </a:solidFill>
              </a:rPr>
              <a:t>else </a:t>
            </a:r>
            <a:r>
              <a:rPr>
                <a:solidFill>
                  <a:srgbClr val="F1F5F9"/>
                </a:solidFill>
              </a:rPr>
              <a:t>parent.right </a:t>
            </a:r>
            <a:r>
              <a:rPr>
                <a:solidFill>
                  <a:srgbClr val="F1F5F9"/>
                </a:solidFill>
              </a:rPr>
              <a:t>= </a:t>
            </a:r>
            <a:r>
              <a:rPr>
                <a:solidFill>
                  <a:srgbClr val="F1F5F9"/>
                </a:solidFill>
              </a:rPr>
              <a:t>delete.left; </a:t>
            </a:r>
          </a:p>
        </p:txBody>
      </p:sp>
      <p:sp>
        <p:nvSpPr>
          <p:cNvPr id="8" name="Rounded Rectangle 7"/>
          <p:cNvSpPr/>
          <p:nvPr/>
        </p:nvSpPr>
        <p:spPr>
          <a:xfrm>
            <a:off x="8010144" y="1645920"/>
            <a:ext cx="3364992" cy="4389120"/>
          </a:xfrm>
          <a:prstGeom prst="roundRect">
            <a:avLst/>
          </a:prstGeom>
          <a:solidFill>
            <a:srgbClr val="1E293B"/>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38744" y="1874520"/>
            <a:ext cx="2907792" cy="3931920"/>
          </a:xfrm>
          <a:prstGeom prst="rect">
            <a:avLst/>
          </a:prstGeom>
          <a:noFill/>
        </p:spPr>
        <p:txBody>
          <a:bodyPr wrap="square" lIns="0" rIns="0" tIns="0" bIns="0">
            <a:spAutoFit/>
          </a:bodyPr>
          <a:lstStyle/>
          <a:p>
            <a:pPr>
              <a:spcAft>
                <a:spcPts val="400"/>
              </a:spcAft>
              <a:defRPr sz="1800" b="1">
                <a:solidFill>
                  <a:srgbClr val="06B6D4"/>
                </a:solidFill>
                <a:latin typeface="Segoe UI"/>
              </a:defRPr>
            </a:pPr>
            <a:r>
              <a:t>Case 3: Chỉ Có Con Phải</a:t>
            </a:r>
          </a:p>
          <a:p>
            <a:pPr>
              <a:spcAft>
                <a:spcPts val="1000"/>
              </a:spcAft>
              <a:defRPr sz="1200" i="1">
                <a:solidFill>
                  <a:srgbClr val="94A3B8"/>
                </a:solidFill>
                <a:latin typeface="Segoe UI"/>
              </a:defRPr>
            </a:pPr>
            <a:r>
              <a:t>Node cần xóa có con phải nhưng không có con trái.</a:t>
            </a:r>
          </a:p>
          <a:p>
            <a:pPr>
              <a:spcAft>
                <a:spcPts val="1500"/>
              </a:spcAft>
              <a:defRPr sz="1150">
                <a:solidFill>
                  <a:srgbClr val="F1F5F9"/>
                </a:solidFill>
                <a:latin typeface="Segoe UI"/>
              </a:defRPr>
            </a:pPr>
            <a:r>
              <a:t>Nếu deleteNode là gốc (root) -&gt; root = con phải.</a:t>
            </a:r>
            <a:br/>
            <a:br/>
            <a:r>
              <a:t>Ngược lại, nút cha liên kết thẳng tới con phải của node xóa.</a:t>
            </a:r>
          </a:p>
          <a:p>
            <a:pPr>
              <a:spcAft>
                <a:spcPts val="0"/>
              </a:spcAft>
              <a:defRPr sz="1000">
                <a:latin typeface="Consolas"/>
              </a:defRPr>
            </a:pPr>
            <a:r>
              <a:rPr>
                <a:solidFill>
                  <a:srgbClr val="F43F5E"/>
                </a:solidFill>
              </a:rPr>
              <a:t>if </a:t>
            </a:r>
            <a:r>
              <a:rPr>
                <a:solidFill>
                  <a:srgbClr val="F1F5F9"/>
                </a:solidFill>
              </a:rPr>
              <a:t>(parent </a:t>
            </a:r>
            <a:r>
              <a:rPr>
                <a:solidFill>
                  <a:srgbClr val="F1F5F9"/>
                </a:solidFill>
              </a:rPr>
              <a:t>== </a:t>
            </a:r>
            <a:r>
              <a:rPr>
                <a:solidFill>
                  <a:srgbClr val="F1F5F9"/>
                </a:solidFill>
              </a:rPr>
              <a:t>null) </a:t>
            </a:r>
            <a:r>
              <a:rPr>
                <a:solidFill>
                  <a:srgbClr val="22D3EE"/>
                </a:solidFill>
              </a:rPr>
              <a:t>root </a:t>
            </a:r>
            <a:r>
              <a:rPr>
                <a:solidFill>
                  <a:srgbClr val="F1F5F9"/>
                </a:solidFill>
              </a:rPr>
              <a:t>= </a:t>
            </a:r>
            <a:r>
              <a:rPr>
                <a:solidFill>
                  <a:srgbClr val="F1F5F9"/>
                </a:solidFill>
              </a:rPr>
              <a:t>delete.right; </a:t>
            </a:r>
          </a:p>
          <a:p>
            <a:pPr>
              <a:spcAft>
                <a:spcPts val="0"/>
              </a:spcAft>
              <a:defRPr sz="1000">
                <a:latin typeface="Consolas"/>
              </a:defRPr>
            </a:pPr>
            <a:r>
              <a:rPr>
                <a:solidFill>
                  <a:srgbClr val="F43F5E"/>
                </a:solidFill>
              </a:rPr>
              <a:t>else </a:t>
            </a:r>
            <a:r>
              <a:rPr>
                <a:solidFill>
                  <a:srgbClr val="F43F5E"/>
                </a:solidFill>
              </a:rPr>
              <a:t>if </a:t>
            </a:r>
            <a:r>
              <a:rPr>
                <a:solidFill>
                  <a:srgbClr val="F1F5F9"/>
                </a:solidFill>
              </a:rPr>
              <a:t>(parent.left </a:t>
            </a:r>
            <a:r>
              <a:rPr>
                <a:solidFill>
                  <a:srgbClr val="F1F5F9"/>
                </a:solidFill>
              </a:rPr>
              <a:t>== </a:t>
            </a:r>
            <a:r>
              <a:rPr>
                <a:solidFill>
                  <a:srgbClr val="F1F5F9"/>
                </a:solidFill>
              </a:rPr>
              <a:t>delete) </a:t>
            </a:r>
          </a:p>
          <a:p>
            <a:pPr>
              <a:spcAft>
                <a:spcPts val="0"/>
              </a:spcAft>
              <a:defRPr sz="1000">
                <a:latin typeface="Consolas"/>
              </a:defRPr>
            </a:pPr>
            <a:r>
              <a:rPr>
                <a:solidFill>
                  <a:srgbClr val="F1F5F9"/>
                </a:solidFill>
              </a:rPr>
              <a:t> </a:t>
            </a:r>
            <a:r>
              <a:rPr>
                <a:solidFill>
                  <a:srgbClr val="F1F5F9"/>
                </a:solidFill>
              </a:rPr>
              <a:t> </a:t>
            </a:r>
            <a:r>
              <a:rPr>
                <a:solidFill>
                  <a:srgbClr val="F1F5F9"/>
                </a:solidFill>
              </a:rPr>
              <a:t> </a:t>
            </a:r>
            <a:r>
              <a:rPr>
                <a:solidFill>
                  <a:srgbClr val="F1F5F9"/>
                </a:solidFill>
              </a:rPr>
              <a:t> </a:t>
            </a:r>
            <a:r>
              <a:rPr>
                <a:solidFill>
                  <a:srgbClr val="F1F5F9"/>
                </a:solidFill>
              </a:rPr>
              <a:t>parent.left </a:t>
            </a:r>
            <a:r>
              <a:rPr>
                <a:solidFill>
                  <a:srgbClr val="F1F5F9"/>
                </a:solidFill>
              </a:rPr>
              <a:t>= </a:t>
            </a:r>
            <a:r>
              <a:rPr>
                <a:solidFill>
                  <a:srgbClr val="F1F5F9"/>
                </a:solidFill>
              </a:rPr>
              <a:t>delete.right; </a:t>
            </a:r>
          </a:p>
          <a:p>
            <a:pPr>
              <a:spcAft>
                <a:spcPts val="0"/>
              </a:spcAft>
              <a:defRPr sz="1000">
                <a:latin typeface="Consolas"/>
              </a:defRPr>
            </a:pPr>
            <a:r>
              <a:rPr>
                <a:solidFill>
                  <a:srgbClr val="F43F5E"/>
                </a:solidFill>
              </a:rPr>
              <a:t>else </a:t>
            </a:r>
            <a:r>
              <a:rPr>
                <a:solidFill>
                  <a:srgbClr val="F1F5F9"/>
                </a:solidFill>
              </a:rPr>
              <a:t>parent.right </a:t>
            </a:r>
            <a:r>
              <a:rPr>
                <a:solidFill>
                  <a:srgbClr val="F1F5F9"/>
                </a:solidFill>
              </a:rPr>
              <a:t>= </a:t>
            </a:r>
            <a:r>
              <a:rPr>
                <a:solidFill>
                  <a:srgbClr val="F1F5F9"/>
                </a:solidFill>
              </a:rPr>
              <a:t>delete.right;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pPr>
              <a:defRPr sz="1000" b="1">
                <a:solidFill>
                  <a:srgbClr val="06B6D4"/>
                </a:solidFill>
                <a:latin typeface="Segoe UI"/>
              </a:defRPr>
            </a:pPr>
            <a:r>
              <a:t>BINARY SEARCH TREE</a:t>
            </a:r>
          </a:p>
        </p:txBody>
      </p:sp>
      <p:sp>
        <p:nvSpPr>
          <p:cNvPr id="3" name="TextBox 2"/>
          <p:cNvSpPr txBox="1"/>
          <p:nvPr/>
        </p:nvSpPr>
        <p:spPr>
          <a:xfrm>
            <a:off x="731520" y="548640"/>
            <a:ext cx="10698480" cy="731520"/>
          </a:xfrm>
          <a:prstGeom prst="rect">
            <a:avLst/>
          </a:prstGeom>
          <a:noFill/>
        </p:spPr>
        <p:txBody>
          <a:bodyPr wrap="square" lIns="0" rIns="0" tIns="0" bIns="0">
            <a:spAutoFit/>
          </a:bodyPr>
          <a:lstStyle/>
          <a:p>
            <a:pPr>
              <a:defRPr sz="2800" b="1">
                <a:solidFill>
                  <a:srgbClr val="F1F5F9"/>
                </a:solidFill>
                <a:latin typeface="Segoe UI"/>
              </a:defRPr>
            </a:pPr>
            <a:r>
              <a:t>Trường Hợp 4: Node Có Cả 2 Con</a:t>
            </a:r>
          </a:p>
        </p:txBody>
      </p:sp>
      <p:sp>
        <p:nvSpPr>
          <p:cNvPr id="4" name="Rounded Rectangle 3"/>
          <p:cNvSpPr/>
          <p:nvPr/>
        </p:nvSpPr>
        <p:spPr>
          <a:xfrm>
            <a:off x="731520" y="1645920"/>
            <a:ext cx="5120640" cy="4389120"/>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920240"/>
            <a:ext cx="4572000" cy="3840480"/>
          </a:xfrm>
          <a:prstGeom prst="rect">
            <a:avLst/>
          </a:prstGeom>
          <a:noFill/>
        </p:spPr>
        <p:txBody>
          <a:bodyPr wrap="square" lIns="0" rIns="0" tIns="0" bIns="0">
            <a:spAutoFit/>
          </a:bodyPr>
          <a:lstStyle/>
          <a:p>
            <a:pPr>
              <a:spcAft>
                <a:spcPts val="1500"/>
              </a:spcAft>
              <a:defRPr sz="2200" b="1">
                <a:solidFill>
                  <a:srgbClr val="06B6D4"/>
                </a:solidFill>
                <a:latin typeface="Segoe UI"/>
              </a:defRPr>
            </a:pPr>
            <a:r>
              <a:t>Quy trình ghép nối chi tiết</a:t>
            </a:r>
          </a:p>
          <a:p>
            <a:pPr>
              <a:spcAft>
                <a:spcPts val="1000"/>
              </a:spcAft>
              <a:defRPr sz="1300">
                <a:latin typeface="Segoe UI"/>
              </a:defRPr>
            </a:pPr>
            <a:r>
              <a:rPr b="1">
                <a:solidFill>
                  <a:srgbClr val="F1F5F9"/>
                </a:solidFill>
              </a:rPr>
              <a:t>Bước 1: Tìm node cực phải nhánh trái: </a:t>
            </a:r>
            <a:r>
              <a:rPr>
                <a:solidFill>
                  <a:srgbClr val="94A3B8"/>
                </a:solidFill>
              </a:rPr>
              <a:t>replaceNode = deleteNode.left; chạy vòng lặp tìm node có replaceNode.right == null.</a:t>
            </a:r>
          </a:p>
          <a:p>
            <a:pPr>
              <a:spcAft>
                <a:spcPts val="1000"/>
              </a:spcAft>
              <a:defRPr sz="1300">
                <a:latin typeface="Segoe UI"/>
              </a:defRPr>
            </a:pPr>
            <a:r>
              <a:rPr b="1">
                <a:solidFill>
                  <a:srgbClr val="F1F5F9"/>
                </a:solidFill>
              </a:rPr>
              <a:t>Bước 2: Nối nhánh phải của node xóa: </a:t>
            </a:r>
            <a:r>
              <a:rPr>
                <a:solidFill>
                  <a:srgbClr val="94A3B8"/>
                </a:solidFill>
              </a:rPr>
              <a:t>Gán replaceNode.right = deleteNode.right. Cây con phải chính thức được treo vào node lớn nhất bên trái.</a:t>
            </a:r>
          </a:p>
          <a:p>
            <a:pPr>
              <a:spcAft>
                <a:spcPts val="1000"/>
              </a:spcAft>
              <a:defRPr sz="1300">
                <a:latin typeface="Segoe UI"/>
              </a:defRPr>
            </a:pPr>
            <a:r>
              <a:rPr b="1">
                <a:solidFill>
                  <a:srgbClr val="F1F5F9"/>
                </a:solidFill>
              </a:rPr>
              <a:t>Bước 3: Ngắt nhánh phải cũ: </a:t>
            </a:r>
            <a:r>
              <a:rPr>
                <a:solidFill>
                  <a:srgbClr val="94A3B8"/>
                </a:solidFill>
              </a:rPr>
              <a:t>deleteNode.right = null. Node cần xóa lúc này chỉ còn nhánh bên trái.</a:t>
            </a:r>
          </a:p>
          <a:p>
            <a:pPr>
              <a:spcAft>
                <a:spcPts val="1000"/>
              </a:spcAft>
              <a:defRPr sz="1300">
                <a:latin typeface="Segoe UI"/>
              </a:defRPr>
            </a:pPr>
            <a:r>
              <a:rPr b="1">
                <a:solidFill>
                  <a:srgbClr val="F1F5F9"/>
                </a:solidFill>
              </a:rPr>
              <a:t>Bước 4: Nối cha với nhánh trái: </a:t>
            </a:r>
            <a:r>
              <a:rPr>
                <a:solidFill>
                  <a:srgbClr val="94A3B8"/>
                </a:solidFill>
              </a:rPr>
              <a:t>Nếu xóa root, root = deleteNode.left. Ngược lại, cha của node xóa trỏ tới deleteNode.left.</a:t>
            </a:r>
          </a:p>
        </p:txBody>
      </p:sp>
      <p:sp>
        <p:nvSpPr>
          <p:cNvPr id="6" name="Rounded Rectangle 5"/>
          <p:cNvSpPr/>
          <p:nvPr/>
        </p:nvSpPr>
        <p:spPr>
          <a:xfrm>
            <a:off x="6309360" y="1645920"/>
            <a:ext cx="5120640" cy="4389120"/>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0" y="1920240"/>
            <a:ext cx="4572000" cy="3840480"/>
          </a:xfrm>
          <a:prstGeom prst="rect">
            <a:avLst/>
          </a:prstGeom>
          <a:noFill/>
        </p:spPr>
        <p:txBody>
          <a:bodyPr wrap="square" lIns="0" rIns="0" tIns="0" bIns="0">
            <a:spAutoFit/>
          </a:bodyPr>
          <a:lstStyle/>
          <a:p>
            <a:pPr>
              <a:spcAft>
                <a:spcPts val="1500"/>
              </a:spcAft>
              <a:defRPr sz="2200" b="1">
                <a:solidFill>
                  <a:srgbClr val="8B5CF6"/>
                </a:solidFill>
                <a:latin typeface="Segoe UI"/>
              </a:defRPr>
            </a:pPr>
            <a:r>
              <a:t>Mã nguồn Java Case 4</a:t>
            </a:r>
          </a:p>
          <a:p>
            <a:pPr>
              <a:spcAft>
                <a:spcPts val="0"/>
              </a:spcAft>
              <a:defRPr sz="950">
                <a:latin typeface="Consolas"/>
              </a:defRPr>
            </a:pPr>
            <a:r>
              <a:rPr>
                <a:solidFill>
                  <a:srgbClr val="22D3EE"/>
                </a:solidFill>
              </a:rPr>
              <a:t>Node </a:t>
            </a:r>
            <a:r>
              <a:rPr>
                <a:solidFill>
                  <a:srgbClr val="F1F5F9"/>
                </a:solidFill>
              </a:rPr>
              <a:t>rightOfDeleteNode </a:t>
            </a:r>
            <a:r>
              <a:rPr>
                <a:solidFill>
                  <a:srgbClr val="F1F5F9"/>
                </a:solidFill>
              </a:rPr>
              <a:t>= </a:t>
            </a:r>
            <a:r>
              <a:rPr>
                <a:solidFill>
                  <a:srgbClr val="F1F5F9"/>
                </a:solidFill>
              </a:rPr>
              <a:t>deleteNode.right; </a:t>
            </a:r>
          </a:p>
          <a:p>
            <a:pPr>
              <a:spcAft>
                <a:spcPts val="0"/>
              </a:spcAft>
              <a:defRPr sz="950">
                <a:latin typeface="Consolas"/>
              </a:defRPr>
            </a:pPr>
            <a:r>
              <a:rPr>
                <a:solidFill>
                  <a:srgbClr val="22D3EE"/>
                </a:solidFill>
              </a:rPr>
              <a:t>Node </a:t>
            </a:r>
            <a:r>
              <a:rPr>
                <a:solidFill>
                  <a:srgbClr val="F1F5F9"/>
                </a:solidFill>
              </a:rPr>
              <a:t>replaceNode </a:t>
            </a:r>
            <a:r>
              <a:rPr>
                <a:solidFill>
                  <a:srgbClr val="F1F5F9"/>
                </a:solidFill>
              </a:rPr>
              <a:t>= </a:t>
            </a:r>
            <a:r>
              <a:rPr>
                <a:solidFill>
                  <a:srgbClr val="F1F5F9"/>
                </a:solidFill>
              </a:rPr>
              <a:t>deleteNode.left; </a:t>
            </a:r>
          </a:p>
          <a:p>
            <a:pPr>
              <a:spcAft>
                <a:spcPts val="0"/>
              </a:spcAft>
              <a:defRPr sz="950">
                <a:latin typeface="Consolas"/>
              </a:defRPr>
            </a:pPr>
            <a:r>
              <a:rPr b="1">
                <a:solidFill>
                  <a:srgbClr val="F43F5E"/>
                </a:solidFill>
              </a:rPr>
              <a:t>while </a:t>
            </a:r>
            <a:r>
              <a:rPr>
                <a:solidFill>
                  <a:srgbClr val="F1F5F9"/>
                </a:solidFill>
              </a:rPr>
              <a:t>(replaceNode.right </a:t>
            </a:r>
            <a:r>
              <a:rPr>
                <a:solidFill>
                  <a:srgbClr val="F1F5F9"/>
                </a:solidFill>
              </a:rPr>
              <a:t>!= </a:t>
            </a:r>
            <a:r>
              <a:rPr>
                <a:solidFill>
                  <a:srgbClr val="F1F5F9"/>
                </a:solidFill>
              </a:rPr>
              <a:t>null) </a:t>
            </a:r>
            <a:r>
              <a:rPr>
                <a:solidFill>
                  <a:srgbClr val="F1F5F9"/>
                </a:solidFill>
              </a:rPr>
              <a:t>{ </a:t>
            </a:r>
          </a:p>
          <a:p>
            <a:pPr>
              <a:spcAft>
                <a:spcPts val="0"/>
              </a:spcAft>
              <a:defRPr sz="950">
                <a:latin typeface="Consolas"/>
              </a:defRPr>
            </a:pPr>
            <a:r>
              <a:rPr>
                <a:solidFill>
                  <a:srgbClr val="F1F5F9"/>
                </a:solidFill>
              </a:rPr>
              <a:t> </a:t>
            </a:r>
            <a:r>
              <a:rPr>
                <a:solidFill>
                  <a:srgbClr val="F1F5F9"/>
                </a:solidFill>
              </a:rPr>
              <a:t> </a:t>
            </a:r>
            <a:r>
              <a:rPr>
                <a:solidFill>
                  <a:srgbClr val="F1F5F9"/>
                </a:solidFill>
              </a:rPr>
              <a:t> </a:t>
            </a:r>
            <a:r>
              <a:rPr>
                <a:solidFill>
                  <a:srgbClr val="F1F5F9"/>
                </a:solidFill>
              </a:rPr>
              <a:t> </a:t>
            </a:r>
            <a:r>
              <a:rPr>
                <a:solidFill>
                  <a:srgbClr val="F1F5F9"/>
                </a:solidFill>
              </a:rPr>
              <a:t>replaceNode </a:t>
            </a:r>
            <a:r>
              <a:rPr>
                <a:solidFill>
                  <a:srgbClr val="F1F5F9"/>
                </a:solidFill>
              </a:rPr>
              <a:t>= </a:t>
            </a:r>
            <a:r>
              <a:rPr>
                <a:solidFill>
                  <a:srgbClr val="F1F5F9"/>
                </a:solidFill>
              </a:rPr>
              <a:t>replaceNode.right; </a:t>
            </a:r>
          </a:p>
          <a:p>
            <a:pPr>
              <a:spcAft>
                <a:spcPts val="0"/>
              </a:spcAft>
              <a:defRPr sz="950">
                <a:latin typeface="Consolas"/>
              </a:defRPr>
            </a:pPr>
            <a:r>
              <a:rPr>
                <a:solidFill>
                  <a:srgbClr val="F1F5F9"/>
                </a:solidFill>
              </a:rPr>
              <a:t>} </a:t>
            </a:r>
          </a:p>
          <a:p>
            <a:pPr>
              <a:spcAft>
                <a:spcPts val="0"/>
              </a:spcAft>
              <a:defRPr sz="950">
                <a:latin typeface="Consolas"/>
              </a:defRPr>
            </a:pPr>
            <a:r>
              <a:rPr>
                <a:solidFill>
                  <a:srgbClr val="F1F5F9"/>
                </a:solidFill>
              </a:rPr>
              <a:t>replaceNode.right </a:t>
            </a:r>
            <a:r>
              <a:rPr>
                <a:solidFill>
                  <a:srgbClr val="F1F5F9"/>
                </a:solidFill>
              </a:rPr>
              <a:t>= </a:t>
            </a:r>
            <a:r>
              <a:rPr>
                <a:solidFill>
                  <a:srgbClr val="F1F5F9"/>
                </a:solidFill>
              </a:rPr>
              <a:t>rightOfDeleteNode; </a:t>
            </a:r>
          </a:p>
          <a:p>
            <a:pPr>
              <a:spcAft>
                <a:spcPts val="0"/>
              </a:spcAft>
              <a:defRPr sz="950">
                <a:latin typeface="Consolas"/>
              </a:defRPr>
            </a:pPr>
            <a:r>
              <a:rPr>
                <a:solidFill>
                  <a:srgbClr val="F1F5F9"/>
                </a:solidFill>
              </a:rPr>
              <a:t>deleteNode.right </a:t>
            </a:r>
            <a:r>
              <a:rPr>
                <a:solidFill>
                  <a:srgbClr val="F1F5F9"/>
                </a:solidFill>
              </a:rPr>
              <a:t>= </a:t>
            </a:r>
            <a:r>
              <a:rPr>
                <a:solidFill>
                  <a:srgbClr val="F1F5F9"/>
                </a:solidFill>
              </a:rPr>
              <a:t>null; </a:t>
            </a:r>
          </a:p>
          <a:p>
            <a:pPr>
              <a:spcAft>
                <a:spcPts val="0"/>
              </a:spcAft>
              <a:defRPr sz="950">
                <a:latin typeface="Consolas"/>
              </a:defRPr>
            </a:pPr>
            <a:r>
              <a:rPr>
                <a:solidFill>
                  <a:srgbClr val="F1F5F9"/>
                </a:solidFill>
              </a:rPr>
              <a:t> </a:t>
            </a:r>
          </a:p>
          <a:p>
            <a:pPr>
              <a:spcAft>
                <a:spcPts val="0"/>
              </a:spcAft>
              <a:defRPr sz="950">
                <a:latin typeface="Consolas"/>
              </a:defRPr>
            </a:pPr>
            <a:r>
              <a:rPr b="1">
                <a:solidFill>
                  <a:srgbClr val="F43F5E"/>
                </a:solidFill>
              </a:rPr>
              <a:t>if </a:t>
            </a:r>
            <a:r>
              <a:rPr>
                <a:solidFill>
                  <a:srgbClr val="F1F5F9"/>
                </a:solidFill>
              </a:rPr>
              <a:t>(parentOfDeleteNode </a:t>
            </a:r>
            <a:r>
              <a:rPr>
                <a:solidFill>
                  <a:srgbClr val="F1F5F9"/>
                </a:solidFill>
              </a:rPr>
              <a:t>== </a:t>
            </a:r>
            <a:r>
              <a:rPr>
                <a:solidFill>
                  <a:srgbClr val="F1F5F9"/>
                </a:solidFill>
              </a:rPr>
              <a:t>null) </a:t>
            </a:r>
            <a:r>
              <a:rPr>
                <a:solidFill>
                  <a:srgbClr val="F1F5F9"/>
                </a:solidFill>
              </a:rPr>
              <a:t>{ </a:t>
            </a:r>
          </a:p>
          <a:p>
            <a:pPr>
              <a:spcAft>
                <a:spcPts val="0"/>
              </a:spcAft>
              <a:defRPr sz="950">
                <a:latin typeface="Consolas"/>
              </a:defRPr>
            </a:pPr>
            <a:r>
              <a:rPr>
                <a:solidFill>
                  <a:srgbClr val="F1F5F9"/>
                </a:solidFill>
              </a:rPr>
              <a:t> </a:t>
            </a:r>
            <a:r>
              <a:rPr>
                <a:solidFill>
                  <a:srgbClr val="F1F5F9"/>
                </a:solidFill>
              </a:rPr>
              <a:t> </a:t>
            </a:r>
            <a:r>
              <a:rPr>
                <a:solidFill>
                  <a:srgbClr val="F1F5F9"/>
                </a:solidFill>
              </a:rPr>
              <a:t> </a:t>
            </a:r>
            <a:r>
              <a:rPr>
                <a:solidFill>
                  <a:srgbClr val="F1F5F9"/>
                </a:solidFill>
              </a:rPr>
              <a:t> </a:t>
            </a:r>
            <a:r>
              <a:rPr>
                <a:solidFill>
                  <a:srgbClr val="F1F5F9"/>
                </a:solidFill>
              </a:rPr>
              <a:t>root </a:t>
            </a:r>
            <a:r>
              <a:rPr>
                <a:solidFill>
                  <a:srgbClr val="F1F5F9"/>
                </a:solidFill>
              </a:rPr>
              <a:t>= </a:t>
            </a:r>
            <a:r>
              <a:rPr>
                <a:solidFill>
                  <a:srgbClr val="F1F5F9"/>
                </a:solidFill>
              </a:rPr>
              <a:t>deleteNode.left; </a:t>
            </a:r>
          </a:p>
          <a:p>
            <a:pPr>
              <a:spcAft>
                <a:spcPts val="0"/>
              </a:spcAft>
              <a:defRPr sz="950">
                <a:latin typeface="Consolas"/>
              </a:defRPr>
            </a:pPr>
            <a:r>
              <a:rPr>
                <a:solidFill>
                  <a:srgbClr val="F1F5F9"/>
                </a:solidFill>
              </a:rPr>
              <a:t>} </a:t>
            </a:r>
            <a:r>
              <a:rPr b="1">
                <a:solidFill>
                  <a:srgbClr val="F43F5E"/>
                </a:solidFill>
              </a:rPr>
              <a:t>else </a:t>
            </a:r>
            <a:r>
              <a:rPr>
                <a:solidFill>
                  <a:srgbClr val="F1F5F9"/>
                </a:solidFill>
              </a:rPr>
              <a:t>{ </a:t>
            </a:r>
          </a:p>
          <a:p>
            <a:pPr>
              <a:spcAft>
                <a:spcPts val="0"/>
              </a:spcAft>
              <a:defRPr sz="950">
                <a:latin typeface="Consolas"/>
              </a:defRPr>
            </a:pPr>
            <a:r>
              <a:rPr>
                <a:solidFill>
                  <a:srgbClr val="F1F5F9"/>
                </a:solidFill>
              </a:rPr>
              <a:t> </a:t>
            </a:r>
            <a:r>
              <a:rPr>
                <a:solidFill>
                  <a:srgbClr val="F1F5F9"/>
                </a:solidFill>
              </a:rPr>
              <a:t> </a:t>
            </a:r>
            <a:r>
              <a:rPr>
                <a:solidFill>
                  <a:srgbClr val="F1F5F9"/>
                </a:solidFill>
              </a:rPr>
              <a:t> </a:t>
            </a:r>
            <a:r>
              <a:rPr>
                <a:solidFill>
                  <a:srgbClr val="F1F5F9"/>
                </a:solidFill>
              </a:rPr>
              <a:t> </a:t>
            </a:r>
            <a:r>
              <a:rPr b="1">
                <a:solidFill>
                  <a:srgbClr val="F43F5E"/>
                </a:solidFill>
              </a:rPr>
              <a:t>if </a:t>
            </a:r>
            <a:r>
              <a:rPr>
                <a:solidFill>
                  <a:srgbClr val="F1F5F9"/>
                </a:solidFill>
              </a:rPr>
              <a:t>(parentOfDeleteNode.left </a:t>
            </a:r>
            <a:r>
              <a:rPr>
                <a:solidFill>
                  <a:srgbClr val="F1F5F9"/>
                </a:solidFill>
              </a:rPr>
              <a:t>== </a:t>
            </a:r>
            <a:r>
              <a:rPr>
                <a:solidFill>
                  <a:srgbClr val="F1F5F9"/>
                </a:solidFill>
              </a:rPr>
              <a:t>deleteNode) </a:t>
            </a:r>
          </a:p>
          <a:p>
            <a:pPr>
              <a:spcAft>
                <a:spcPts val="0"/>
              </a:spcAft>
              <a:defRPr sz="950">
                <a:latin typeface="Consolas"/>
              </a:defRPr>
            </a:pPr>
            <a:r>
              <a:rPr>
                <a:solidFill>
                  <a:srgbClr val="F1F5F9"/>
                </a:solidFill>
              </a:rPr>
              <a:t> </a:t>
            </a:r>
            <a:r>
              <a:rPr>
                <a:solidFill>
                  <a:srgbClr val="F1F5F9"/>
                </a:solidFill>
              </a:rPr>
              <a:t> </a:t>
            </a:r>
            <a:r>
              <a:rPr>
                <a:solidFill>
                  <a:srgbClr val="F1F5F9"/>
                </a:solidFill>
              </a:rPr>
              <a:t> </a:t>
            </a:r>
            <a:r>
              <a:rPr>
                <a:solidFill>
                  <a:srgbClr val="F1F5F9"/>
                </a:solidFill>
              </a:rPr>
              <a:t> </a:t>
            </a:r>
            <a:r>
              <a:rPr>
                <a:solidFill>
                  <a:srgbClr val="F1F5F9"/>
                </a:solidFill>
              </a:rPr>
              <a:t> </a:t>
            </a:r>
            <a:r>
              <a:rPr>
                <a:solidFill>
                  <a:srgbClr val="F1F5F9"/>
                </a:solidFill>
              </a:rPr>
              <a:t> </a:t>
            </a:r>
            <a:r>
              <a:rPr>
                <a:solidFill>
                  <a:srgbClr val="F1F5F9"/>
                </a:solidFill>
              </a:rPr>
              <a:t> </a:t>
            </a:r>
            <a:r>
              <a:rPr>
                <a:solidFill>
                  <a:srgbClr val="F1F5F9"/>
                </a:solidFill>
              </a:rPr>
              <a:t> </a:t>
            </a:r>
            <a:r>
              <a:rPr>
                <a:solidFill>
                  <a:srgbClr val="F1F5F9"/>
                </a:solidFill>
              </a:rPr>
              <a:t>parentOfDeleteNode.left </a:t>
            </a:r>
            <a:r>
              <a:rPr>
                <a:solidFill>
                  <a:srgbClr val="F1F5F9"/>
                </a:solidFill>
              </a:rPr>
              <a:t>= </a:t>
            </a:r>
            <a:r>
              <a:rPr>
                <a:solidFill>
                  <a:srgbClr val="F1F5F9"/>
                </a:solidFill>
              </a:rPr>
              <a:t>deleteNode.left; </a:t>
            </a:r>
          </a:p>
          <a:p>
            <a:pPr>
              <a:spcAft>
                <a:spcPts val="0"/>
              </a:spcAft>
              <a:defRPr sz="950">
                <a:latin typeface="Consolas"/>
              </a:defRPr>
            </a:pPr>
            <a:r>
              <a:rPr>
                <a:solidFill>
                  <a:srgbClr val="F1F5F9"/>
                </a:solidFill>
              </a:rPr>
              <a:t> </a:t>
            </a:r>
            <a:r>
              <a:rPr>
                <a:solidFill>
                  <a:srgbClr val="F1F5F9"/>
                </a:solidFill>
              </a:rPr>
              <a:t> </a:t>
            </a:r>
            <a:r>
              <a:rPr>
                <a:solidFill>
                  <a:srgbClr val="F1F5F9"/>
                </a:solidFill>
              </a:rPr>
              <a:t> </a:t>
            </a:r>
            <a:r>
              <a:rPr>
                <a:solidFill>
                  <a:srgbClr val="F1F5F9"/>
                </a:solidFill>
              </a:rPr>
              <a:t> </a:t>
            </a:r>
            <a:r>
              <a:rPr b="1">
                <a:solidFill>
                  <a:srgbClr val="F43F5E"/>
                </a:solidFill>
              </a:rPr>
              <a:t>else </a:t>
            </a:r>
          </a:p>
          <a:p>
            <a:pPr>
              <a:spcAft>
                <a:spcPts val="0"/>
              </a:spcAft>
              <a:defRPr sz="950">
                <a:latin typeface="Consolas"/>
              </a:defRPr>
            </a:pPr>
            <a:r>
              <a:rPr>
                <a:solidFill>
                  <a:srgbClr val="F1F5F9"/>
                </a:solidFill>
              </a:rPr>
              <a:t> </a:t>
            </a:r>
            <a:r>
              <a:rPr>
                <a:solidFill>
                  <a:srgbClr val="F1F5F9"/>
                </a:solidFill>
              </a:rPr>
              <a:t> </a:t>
            </a:r>
            <a:r>
              <a:rPr>
                <a:solidFill>
                  <a:srgbClr val="F1F5F9"/>
                </a:solidFill>
              </a:rPr>
              <a:t> </a:t>
            </a:r>
            <a:r>
              <a:rPr>
                <a:solidFill>
                  <a:srgbClr val="F1F5F9"/>
                </a:solidFill>
              </a:rPr>
              <a:t> </a:t>
            </a:r>
            <a:r>
              <a:rPr>
                <a:solidFill>
                  <a:srgbClr val="F1F5F9"/>
                </a:solidFill>
              </a:rPr>
              <a:t> </a:t>
            </a:r>
            <a:r>
              <a:rPr>
                <a:solidFill>
                  <a:srgbClr val="F1F5F9"/>
                </a:solidFill>
              </a:rPr>
              <a:t> </a:t>
            </a:r>
            <a:r>
              <a:rPr>
                <a:solidFill>
                  <a:srgbClr val="F1F5F9"/>
                </a:solidFill>
              </a:rPr>
              <a:t> </a:t>
            </a:r>
            <a:r>
              <a:rPr>
                <a:solidFill>
                  <a:srgbClr val="F1F5F9"/>
                </a:solidFill>
              </a:rPr>
              <a:t> </a:t>
            </a:r>
            <a:r>
              <a:rPr>
                <a:solidFill>
                  <a:srgbClr val="F1F5F9"/>
                </a:solidFill>
              </a:rPr>
              <a:t>parentOfDeleteNode.right </a:t>
            </a:r>
            <a:r>
              <a:rPr>
                <a:solidFill>
                  <a:srgbClr val="F1F5F9"/>
                </a:solidFill>
              </a:rPr>
              <a:t>= </a:t>
            </a:r>
            <a:r>
              <a:rPr>
                <a:solidFill>
                  <a:srgbClr val="F1F5F9"/>
                </a:solidFill>
              </a:rPr>
              <a:t>deleteNode.left; </a:t>
            </a:r>
          </a:p>
          <a:p>
            <a:pPr>
              <a:spcAft>
                <a:spcPts val="0"/>
              </a:spcAft>
              <a:defRPr sz="950">
                <a:latin typeface="Consolas"/>
              </a:defRPr>
            </a:pPr>
            <a:r>
              <a:rPr>
                <a:solidFill>
                  <a:srgbClr val="F1F5F9"/>
                </a:solidFill>
              </a:rPr>
              <a:t>} </a:t>
            </a:r>
          </a:p>
          <a:p>
            <a:pPr>
              <a:spcAft>
                <a:spcPts val="0"/>
              </a:spcAft>
              <a:defRPr sz="950">
                <a:latin typeface="Consolas"/>
              </a:defRPr>
            </a:pPr>
            <a:r>
              <a:rPr>
                <a:solidFill>
                  <a:srgbClr val="F1F5F9"/>
                </a:solidFill>
              </a:rPr>
              <a:t>deleteNode.left </a:t>
            </a:r>
            <a:r>
              <a:rPr>
                <a:solidFill>
                  <a:srgbClr val="F1F5F9"/>
                </a:solidFill>
              </a:rPr>
              <a:t>= </a:t>
            </a:r>
            <a:r>
              <a:rPr>
                <a:solidFill>
                  <a:srgbClr val="F1F5F9"/>
                </a:solidFill>
              </a:rPr>
              <a:t>null;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pPr>
              <a:defRPr sz="1000" b="1">
                <a:solidFill>
                  <a:srgbClr val="06B6D4"/>
                </a:solidFill>
                <a:latin typeface="Segoe UI"/>
              </a:defRPr>
            </a:pPr>
            <a:r>
              <a:t>BINARY SEARCH TREE</a:t>
            </a:r>
          </a:p>
        </p:txBody>
      </p:sp>
      <p:sp>
        <p:nvSpPr>
          <p:cNvPr id="3" name="TextBox 2"/>
          <p:cNvSpPr txBox="1"/>
          <p:nvPr/>
        </p:nvSpPr>
        <p:spPr>
          <a:xfrm>
            <a:off x="731520" y="548640"/>
            <a:ext cx="10698480" cy="731520"/>
          </a:xfrm>
          <a:prstGeom prst="rect">
            <a:avLst/>
          </a:prstGeom>
          <a:noFill/>
        </p:spPr>
        <p:txBody>
          <a:bodyPr wrap="square" lIns="0" rIns="0" tIns="0" bIns="0">
            <a:spAutoFit/>
          </a:bodyPr>
          <a:lstStyle/>
          <a:p>
            <a:pPr>
              <a:defRPr sz="2800" b="1">
                <a:solidFill>
                  <a:srgbClr val="F1F5F9"/>
                </a:solidFill>
                <a:latin typeface="Segoe UI"/>
              </a:defRPr>
            </a:pPr>
            <a:r>
              <a:t>Kết Quả Thực Nghiệm &amp; Chạy Thử</a:t>
            </a:r>
          </a:p>
        </p:txBody>
      </p:sp>
      <p:sp>
        <p:nvSpPr>
          <p:cNvPr id="4" name="Rounded Rectangle 3"/>
          <p:cNvSpPr/>
          <p:nvPr/>
        </p:nvSpPr>
        <p:spPr>
          <a:xfrm>
            <a:off x="731520" y="1645920"/>
            <a:ext cx="5120640" cy="4389120"/>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920240"/>
            <a:ext cx="4572000" cy="3840480"/>
          </a:xfrm>
          <a:prstGeom prst="rect">
            <a:avLst/>
          </a:prstGeom>
          <a:noFill/>
        </p:spPr>
        <p:txBody>
          <a:bodyPr wrap="square" lIns="0" rIns="0" tIns="0" bIns="0">
            <a:spAutoFit/>
          </a:bodyPr>
          <a:lstStyle/>
          <a:p>
            <a:pPr>
              <a:spcAft>
                <a:spcPts val="1500"/>
              </a:spcAft>
              <a:defRPr sz="2200" b="1">
                <a:solidFill>
                  <a:srgbClr val="06B6D4"/>
                </a:solidFill>
                <a:latin typeface="Segoe UI"/>
              </a:defRPr>
            </a:pPr>
            <a:r>
              <a:t>Console Output - Duyệt Cây</a:t>
            </a:r>
          </a:p>
          <a:p>
            <a:pPr>
              <a:spcAft>
                <a:spcPts val="200"/>
              </a:spcAft>
              <a:defRPr sz="1300" b="1">
                <a:solidFill>
                  <a:srgbClr val="F1F5F9"/>
                </a:solidFill>
                <a:latin typeface="Segoe UI"/>
              </a:defRPr>
            </a:pPr>
            <a:r>
              <a:t>&gt; Breadth first BSTree:</a:t>
            </a:r>
          </a:p>
          <a:p>
            <a:pPr>
              <a:spcAft>
                <a:spcPts val="1000"/>
              </a:spcAft>
              <a:defRPr sz="1000">
                <a:solidFill>
                  <a:srgbClr val="06B6D4"/>
                </a:solidFill>
                <a:latin typeface="Consolas"/>
              </a:defRPr>
            </a:pPr>
            <a:r>
              <a:t>10 6 15 4 8 12 19 2 5 7 9 11 14 17 20 1 3 13 16 18 21 0 22</a:t>
            </a:r>
          </a:p>
          <a:p>
            <a:pPr>
              <a:spcAft>
                <a:spcPts val="200"/>
              </a:spcAft>
              <a:defRPr sz="1300" b="1">
                <a:solidFill>
                  <a:srgbClr val="F1F5F9"/>
                </a:solidFill>
                <a:latin typeface="Segoe UI"/>
              </a:defRPr>
            </a:pPr>
            <a:r>
              <a:t>&gt; PreOrder (NLR) BSTree:</a:t>
            </a:r>
          </a:p>
          <a:p>
            <a:pPr>
              <a:spcAft>
                <a:spcPts val="1000"/>
              </a:spcAft>
              <a:defRPr sz="1000">
                <a:solidFill>
                  <a:srgbClr val="06B6D4"/>
                </a:solidFill>
                <a:latin typeface="Consolas"/>
              </a:defRPr>
            </a:pPr>
            <a:r>
              <a:t>10 6 4 2 1 0 3 5 8 7 9 15 12 11 14 13 19 17 16 18 20 21 22</a:t>
            </a:r>
          </a:p>
          <a:p>
            <a:pPr>
              <a:spcAft>
                <a:spcPts val="200"/>
              </a:spcAft>
              <a:defRPr sz="1300" b="1">
                <a:solidFill>
                  <a:srgbClr val="F1F5F9"/>
                </a:solidFill>
                <a:latin typeface="Segoe UI"/>
              </a:defRPr>
            </a:pPr>
            <a:r>
              <a:t>&gt; InOrder (LNR) BSTree:</a:t>
            </a:r>
          </a:p>
          <a:p>
            <a:pPr>
              <a:spcAft>
                <a:spcPts val="1000"/>
              </a:spcAft>
              <a:defRPr sz="1000">
                <a:solidFill>
                  <a:srgbClr val="06B6D4"/>
                </a:solidFill>
                <a:latin typeface="Consolas"/>
              </a:defRPr>
            </a:pPr>
            <a:r>
              <a:t>0 1 2 3 4 5 6 7 8 9 10 11 12 13 14 15 16 17 18 19 20 21 22</a:t>
            </a:r>
          </a:p>
          <a:p>
            <a:pPr>
              <a:spcAft>
                <a:spcPts val="200"/>
              </a:spcAft>
              <a:defRPr sz="1300" b="1">
                <a:solidFill>
                  <a:srgbClr val="F1F5F9"/>
                </a:solidFill>
                <a:latin typeface="Segoe UI"/>
              </a:defRPr>
            </a:pPr>
            <a:r>
              <a:t>&gt; PostOrder (LRN) BSTree:</a:t>
            </a:r>
          </a:p>
          <a:p>
            <a:pPr>
              <a:spcAft>
                <a:spcPts val="1000"/>
              </a:spcAft>
              <a:defRPr sz="1000">
                <a:solidFill>
                  <a:srgbClr val="06B6D4"/>
                </a:solidFill>
                <a:latin typeface="Consolas"/>
              </a:defRPr>
            </a:pPr>
            <a:r>
              <a:t>0 1 3 2 5 4 7 9 8 6 11 13 14 12 16 18 17 22 21 20 19 15 10</a:t>
            </a:r>
          </a:p>
        </p:txBody>
      </p:sp>
      <p:sp>
        <p:nvSpPr>
          <p:cNvPr id="6" name="Rounded Rectangle 5"/>
          <p:cNvSpPr/>
          <p:nvPr/>
        </p:nvSpPr>
        <p:spPr>
          <a:xfrm>
            <a:off x="6309360" y="1645920"/>
            <a:ext cx="5120640" cy="4389120"/>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0" y="1920240"/>
            <a:ext cx="4572000" cy="3840480"/>
          </a:xfrm>
          <a:prstGeom prst="rect">
            <a:avLst/>
          </a:prstGeom>
          <a:noFill/>
        </p:spPr>
        <p:txBody>
          <a:bodyPr wrap="square" lIns="0" rIns="0" tIns="0" bIns="0">
            <a:spAutoFit/>
          </a:bodyPr>
          <a:lstStyle/>
          <a:p>
            <a:pPr>
              <a:spcAft>
                <a:spcPts val="1500"/>
              </a:spcAft>
              <a:defRPr sz="2200" b="1">
                <a:solidFill>
                  <a:srgbClr val="8B5CF6"/>
                </a:solidFill>
                <a:latin typeface="Segoe UI"/>
              </a:defRPr>
            </a:pPr>
            <a:r>
              <a:t>Xóa thử nghiệm Node 15</a:t>
            </a:r>
          </a:p>
          <a:p>
            <a:pPr>
              <a:spcAft>
                <a:spcPts val="800"/>
              </a:spcAft>
              <a:defRPr sz="1400" b="1">
                <a:solidFill>
                  <a:srgbClr val="F1F5F9"/>
                </a:solidFill>
                <a:latin typeface="Segoe UI"/>
              </a:defRPr>
            </a:pPr>
            <a:r>
              <a:t>Thực hiện bstree.deleteByMerging(15):</a:t>
            </a:r>
          </a:p>
          <a:p>
            <a:pPr>
              <a:spcAft>
                <a:spcPts val="800"/>
              </a:spcAft>
              <a:defRPr sz="1300">
                <a:solidFill>
                  <a:srgbClr val="94A3B8"/>
                </a:solidFill>
                <a:latin typeface="Segoe UI"/>
              </a:defRPr>
            </a:pPr>
            <a:r>
              <a:t>• Cây con trái của 15 có nút lớn nhất là 14.</a:t>
            </a:r>
          </a:p>
          <a:p>
            <a:pPr>
              <a:spcAft>
                <a:spcPts val="800"/>
              </a:spcAft>
              <a:defRPr sz="1300">
                <a:solidFill>
                  <a:srgbClr val="94A3B8"/>
                </a:solidFill>
                <a:latin typeface="Segoe UI"/>
              </a:defRPr>
            </a:pPr>
            <a:r>
              <a:t>• Cây con phải của 15 (bắt đầu bằng 19) được di chuyển và gắn làm con bên phải của 14.</a:t>
            </a:r>
          </a:p>
          <a:p>
            <a:pPr>
              <a:spcAft>
                <a:spcPts val="800"/>
              </a:spcAft>
              <a:defRPr sz="1300">
                <a:solidFill>
                  <a:srgbClr val="94A3B8"/>
                </a:solidFill>
                <a:latin typeface="Segoe UI"/>
              </a:defRPr>
            </a:pPr>
            <a:r>
              <a:t>• Node 15 được giải phóng, cha là 10 kết nối trực tiếp đến con trái cũ của 15 là 12.</a:t>
            </a:r>
          </a:p>
          <a:p>
            <a:pPr>
              <a:spcAft>
                <a:spcPts val="800"/>
              </a:spcAft>
              <a:defRPr sz="1300">
                <a:solidFill>
                  <a:srgbClr val="94A3B8"/>
                </a:solidFill>
                <a:latin typeface="Segoe UI"/>
              </a:defRPr>
            </a:pPr>
            <a:r>
              <a:t>• Output duyệt chiều rộng sau khi xóa node 15:</a:t>
            </a:r>
            <a:br/>
            <a:r>
              <a:t>10 6 12 4 8 11 14 2 5 7 9 13 19 1 3 17 20 0 16 18 21 22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